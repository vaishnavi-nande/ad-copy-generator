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members of the review panel. Today, I am presenting my internship project, the AI Ad Copy Generator and simulated Publisher Hub. This project was developed as a technical solution to bridge the gap between creative marketing copy generation and real-time ad previews across major social platforms, backed by a simulated ad publishing queue and local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showcases the complete System Architecture of the project. The system utilizes a Client-Server design. The client-side frontend consists of HTML5, CSS3, and JavaScript which renders the interactive inputs and social feed previews. The Express.js backend handles routing and acts as the API Layer. For persistence, it reads and writes to a local JSON database (db.json) via the Node.js file system API. The response data is then propagated back to render the UI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outline the comprehensive technology stack categorized into four layers. The Frontend uses HTML5 for structure, CSS3 for styling and responsive grids, and vanilla JavaScript for state management. The Backend utilizes Node.js and Express.js to host lightweight RESTful routes. The Database uses db.json for document storage and the fs module for filesystem persistence. Key libraries include CORS, Lucide Icons, Google Fonts, and the Fetch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project directory structure. We have a clear separation of concerns. index.html defines the layout, while style.css contains the styling tokens. script.js manages all client-side logic, and server.js acts as the Express backend. Persistence is maintained in db.json and cached storefront images are stored in business_image_cache.json. package.json holds the metadata and server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detail the core API endpoints of our Express backend. GET /api/history retrieves the historical feed of saved campaigns sorted by time. GET /api/campaign-stats calculates key advertising performance indicators like Spend and CTR from active campaigns, filtering out drafts. The request-response flow uses standard Fetch calls from script.js which the Express controller resolves by reading db.json and returning clean JSON payloads.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visualizes the complete end-to-end user and system workflow. It begins with the user entering campaign parameters in the UI. Next, JavaScript validates the fields before dispatching a Fetch call. The Express API receives the request, writes the new campaign record to the JSON database, and triggers ad copywriting template matrices. Finally, the campaign is stored, loaded in the history feed, rendered in the real-time social previews, and becomes exportable as PNG or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Campaign Object structure in our JSON database. On the left is a code-editor mockup of a campaign document, illustrating keys like businessName, target audience, goal, tone, platform, generated copy fields (headline, description, cta), image URL, and creation timestamp. The right column outlines how validation limits and data types are mapped for consistency and database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detailed breakdown of the libraries and external resources used. CORS allows client-server communication during local development. Lucide Icons and Google Fonts provide vector icons and premium typography. Fetch API handles async REST requests. html2canvas renders the preview container to standard PNG graphics, and jsPDF compiles marketing data sheets and image embeds directly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we overcame three major technical challenges. First, CORS paint errors in html2canvas were resolved by implementing a backend proxy that converts image URLs into base64 strings. Second, differences in platform character lengths were solved by developing client-side input validation matrices. Third, potential connection failures were mitigated by creating a LocalStorage fallback that auto-syncs when the database server is back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present the roadmap for future enhancements. This includes migrating to Supabase PostgreSQL for multi-user collaboration and secure scaling, integrating the live Gemini Pro API to produce dynamic generative ad copy, implementing OAuth 2.0 logins, and connecting direct advertising API webhooks to actually publish final drafts directly to Meta and Google Campaign Managers.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371600"/>
            <a:ext cx="73152" cy="2560320"/>
          </a:xfrm>
          <a:prstGeom prst="rect">
            <a:avLst/>
          </a:prstGeom>
          <a:solidFill>
            <a:srgbClr val="1E3A8A"/>
          </a:solidFill>
          <a:ln/>
        </p:spPr>
      </p:sp>
      <p:sp>
        <p:nvSpPr>
          <p:cNvPr id="3" name="Shape 1"/>
          <p:cNvSpPr/>
          <p:nvPr/>
        </p:nvSpPr>
        <p:spPr>
          <a:xfrm>
            <a:off x="731520" y="1371600"/>
            <a:ext cx="73152" cy="2560320"/>
          </a:xfrm>
          <a:prstGeom prst="rect">
            <a:avLst/>
          </a:prstGeom>
          <a:solidFill>
            <a:srgbClr val="EA580C"/>
          </a:solidFill>
          <a:ln/>
        </p:spPr>
      </p:sp>
      <p:sp>
        <p:nvSpPr>
          <p:cNvPr id="4" name="Text 2"/>
          <p:cNvSpPr/>
          <p:nvPr/>
        </p:nvSpPr>
        <p:spPr>
          <a:xfrm>
            <a:off x="1005840" y="1280160"/>
            <a:ext cx="7315200" cy="274320"/>
          </a:xfrm>
          <a:prstGeom prst="rect">
            <a:avLst/>
          </a:prstGeom>
          <a:noFill/>
          <a:ln/>
        </p:spPr>
        <p:txBody>
          <a:bodyPr wrap="square" rtlCol="0" anchor="ctr">
            <a:normAutofit/>
          </a:bodyPr>
          <a:lstStyle/>
          <a:p>
            <a:pPr indent="0" marL="0">
              <a:buNone/>
            </a:pPr>
            <a:r>
              <a:rPr lang="en-US" sz="1100" b="1" dirty="0">
                <a:solidFill>
                  <a:srgbClr val="EA580C"/>
                </a:solidFill>
                <a:latin typeface="Arial" pitchFamily="34" charset="0"/>
                <a:ea typeface="Arial" pitchFamily="34" charset="-122"/>
                <a:cs typeface="Arial" pitchFamily="34" charset="-120"/>
              </a:rPr>
              <a:t>BIZLEAP TECHNOLOGIES | INTERNSHIP PROJECT REVIEW</a:t>
            </a:r>
            <a:endParaRPr lang="en-US" sz="1100" dirty="0"/>
          </a:p>
        </p:txBody>
      </p:sp>
      <p:sp>
        <p:nvSpPr>
          <p:cNvPr id="5" name="Text 3"/>
          <p:cNvSpPr/>
          <p:nvPr/>
        </p:nvSpPr>
        <p:spPr>
          <a:xfrm>
            <a:off x="1005840" y="1645920"/>
            <a:ext cx="7315200" cy="1280160"/>
          </a:xfrm>
          <a:prstGeom prst="rect">
            <a:avLst/>
          </a:prstGeom>
          <a:noFill/>
          <a:ln/>
        </p:spPr>
        <p:txBody>
          <a:bodyPr wrap="square" rtlCol="0" anchor="ctr">
            <a:normAutofit/>
          </a:bodyPr>
          <a:lstStyle/>
          <a:p>
            <a:pPr indent="0" marL="0">
              <a:buNone/>
            </a:pPr>
            <a:r>
              <a:rPr lang="en-US" sz="3200" b="1" dirty="0">
                <a:solidFill>
                  <a:srgbClr val="1E3A8A"/>
                </a:solidFill>
                <a:latin typeface="Segoe UI" pitchFamily="34" charset="0"/>
                <a:ea typeface="Segoe UI" pitchFamily="34" charset="-122"/>
                <a:cs typeface="Segoe UI" pitchFamily="34" charset="-120"/>
              </a:rPr>
              <a:t>AI Ad Copy Generator</a:t>
            </a:r>
            <a:endParaRPr lang="en-US" sz="3200" dirty="0"/>
          </a:p>
          <a:p>
            <a:pPr indent="0" marL="0">
              <a:buNone/>
            </a:pPr>
            <a:r>
              <a:rPr lang="en-US" sz="3200" b="1" dirty="0">
                <a:solidFill>
                  <a:srgbClr val="1E3A8A"/>
                </a:solidFill>
                <a:latin typeface="Segoe UI" pitchFamily="34" charset="0"/>
                <a:ea typeface="Segoe UI" pitchFamily="34" charset="-122"/>
                <a:cs typeface="Segoe UI" pitchFamily="34" charset="-120"/>
              </a:rPr>
              <a:t>&amp; Simulated Publisher Hub</a:t>
            </a:r>
            <a:endParaRPr lang="en-US" sz="3200" dirty="0"/>
          </a:p>
        </p:txBody>
      </p:sp>
      <p:sp>
        <p:nvSpPr>
          <p:cNvPr id="6" name="Text 4"/>
          <p:cNvSpPr/>
          <p:nvPr/>
        </p:nvSpPr>
        <p:spPr>
          <a:xfrm>
            <a:off x="1005840" y="3017520"/>
            <a:ext cx="7315200" cy="274320"/>
          </a:xfrm>
          <a:prstGeom prst="rect">
            <a:avLst/>
          </a:prstGeom>
          <a:noFill/>
          <a:ln/>
        </p:spPr>
        <p:txBody>
          <a:bodyPr wrap="square" rtlCol="0" anchor="ctr">
            <a:normAutofit/>
          </a:bodyPr>
          <a:lstStyle/>
          <a:p>
            <a:pPr indent="0" marL="0">
              <a:buNone/>
            </a:pPr>
            <a:r>
              <a:rPr lang="en-US" sz="1400" b="1" dirty="0">
                <a:solidFill>
                  <a:srgbClr val="1E293B"/>
                </a:solidFill>
                <a:latin typeface="Arial" pitchFamily="34" charset="0"/>
                <a:ea typeface="Arial" pitchFamily="34" charset="-122"/>
                <a:cs typeface="Arial" pitchFamily="34" charset="-120"/>
              </a:rPr>
              <a:t>Technical Project Presentation for Internship Review</a:t>
            </a:r>
            <a:endParaRPr lang="en-US" sz="1400" dirty="0"/>
          </a:p>
        </p:txBody>
      </p:sp>
      <p:sp>
        <p:nvSpPr>
          <p:cNvPr id="7" name="Text 5"/>
          <p:cNvSpPr/>
          <p:nvPr/>
        </p:nvSpPr>
        <p:spPr>
          <a:xfrm>
            <a:off x="1005840" y="3383280"/>
            <a:ext cx="7315200" cy="548640"/>
          </a:xfrm>
          <a:prstGeom prst="rect">
            <a:avLst/>
          </a:prstGeom>
          <a:noFill/>
          <a:ln/>
        </p:spPr>
        <p:txBody>
          <a:bodyPr wrap="square" rtlCol="0" anchor="ctr">
            <a:normAutofit/>
          </a:bodyPr>
          <a:lstStyle/>
          <a:p>
            <a:pPr indent="0" marL="0">
              <a:buNone/>
            </a:pPr>
            <a:r>
              <a:rPr lang="en-US" sz="1100" dirty="0">
                <a:solidFill>
                  <a:srgbClr val="475569"/>
                </a:solidFill>
                <a:latin typeface="Arial" pitchFamily="34" charset="0"/>
                <a:ea typeface="Arial" pitchFamily="34" charset="-122"/>
                <a:cs typeface="Arial" pitchFamily="34" charset="-120"/>
              </a:rPr>
              <a:t>Presenter: Vaishnavi Nande</a:t>
            </a:r>
            <a:endParaRPr lang="en-US" sz="1100" dirty="0"/>
          </a:p>
          <a:p>
            <a:pPr indent="0" marL="0">
              <a:buNone/>
            </a:pPr>
            <a:r>
              <a:rPr lang="en-US" sz="1100" dirty="0">
                <a:solidFill>
                  <a:srgbClr val="475569"/>
                </a:solidFill>
                <a:latin typeface="Arial" pitchFamily="34" charset="0"/>
                <a:ea typeface="Arial" pitchFamily="34" charset="-122"/>
                <a:cs typeface="Arial" pitchFamily="34" charset="-120"/>
              </a:rPr>
              <a:t>Role: Software Engineering Intern</a:t>
            </a:r>
            <a:endParaRPr lang="en-US" sz="1100" dirty="0"/>
          </a:p>
        </p:txBody>
      </p:sp>
      <p:sp>
        <p:nvSpPr>
          <p:cNvPr id="8" name="Text 6"/>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9" name="Text 7"/>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System Architecture Diagram</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Client-server architecture showing end-to-end data transmission</a:t>
            </a:r>
            <a:endParaRPr lang="en-US" sz="1200" dirty="0"/>
          </a:p>
        </p:txBody>
      </p:sp>
      <p:sp>
        <p:nvSpPr>
          <p:cNvPr id="6" name="Shape 4"/>
          <p:cNvSpPr/>
          <p:nvPr/>
        </p:nvSpPr>
        <p:spPr>
          <a:xfrm>
            <a:off x="548640" y="1463040"/>
            <a:ext cx="822960" cy="1005840"/>
          </a:xfrm>
          <a:prstGeom prst="roundRect">
            <a:avLst>
              <a:gd name="adj" fmla="val 5556"/>
            </a:avLst>
          </a:prstGeom>
          <a:solidFill>
            <a:srgbClr val="F8FAFC"/>
          </a:solidFill>
          <a:ln w="19050">
            <a:solidFill>
              <a:srgbClr val="3B82F6"/>
            </a:solidFill>
            <a:prstDash val="solid"/>
          </a:ln>
        </p:spPr>
      </p:sp>
      <p:sp>
        <p:nvSpPr>
          <p:cNvPr id="7" name="Text 5"/>
          <p:cNvSpPr/>
          <p:nvPr/>
        </p:nvSpPr>
        <p:spPr>
          <a:xfrm>
            <a:off x="548640" y="1463040"/>
            <a:ext cx="822960" cy="1005840"/>
          </a:xfrm>
          <a:prstGeom prst="rect">
            <a:avLst/>
          </a:prstGeom>
          <a:noFill/>
          <a:ln/>
        </p:spPr>
        <p:txBody>
          <a:bodyPr wrap="square" rtlCol="0" anchor="ctr">
            <a:normAutofit/>
          </a:bodyPr>
          <a:lstStyle/>
          <a:p>
            <a:pPr algn="ctr" indent="0" marL="0">
              <a:buNone/>
            </a:pPr>
            <a:r>
              <a:rPr lang="en-US" sz="950" b="1" dirty="0">
                <a:solidFill>
                  <a:srgbClr val="1E3A8A"/>
                </a:solidFill>
                <a:latin typeface="Arial" pitchFamily="34" charset="0"/>
                <a:ea typeface="Arial" pitchFamily="34" charset="-122"/>
                <a:cs typeface="Arial" pitchFamily="34" charset="-120"/>
              </a:rPr>
              <a:t>User</a:t>
            </a:r>
            <a:endParaRPr lang="en-US" sz="950" dirty="0"/>
          </a:p>
          <a:p>
            <a:pPr algn="ctr" indent="0" marL="0">
              <a:buNone/>
            </a:pPr>
            <a:r>
              <a:rPr lang="en-US" sz="950" b="1" dirty="0">
                <a:solidFill>
                  <a:srgbClr val="1E3A8A"/>
                </a:solidFill>
                <a:latin typeface="Arial" pitchFamily="34" charset="0"/>
                <a:ea typeface="Arial" pitchFamily="34" charset="-122"/>
                <a:cs typeface="Arial" pitchFamily="34" charset="-120"/>
              </a:rPr>
              <a:t>Inputs Form</a:t>
            </a:r>
            <a:endParaRPr lang="en-US" sz="950" dirty="0"/>
          </a:p>
        </p:txBody>
      </p:sp>
      <p:sp>
        <p:nvSpPr>
          <p:cNvPr id="8" name="Shape 6"/>
          <p:cNvSpPr/>
          <p:nvPr/>
        </p:nvSpPr>
        <p:spPr>
          <a:xfrm>
            <a:off x="1600200" y="1463040"/>
            <a:ext cx="1005840" cy="1005840"/>
          </a:xfrm>
          <a:prstGeom prst="roundRect">
            <a:avLst>
              <a:gd name="adj" fmla="val 4545"/>
            </a:avLst>
          </a:prstGeom>
          <a:solidFill>
            <a:srgbClr val="F8FAFC"/>
          </a:solidFill>
          <a:ln w="19050">
            <a:solidFill>
              <a:srgbClr val="3B82F6"/>
            </a:solidFill>
            <a:prstDash val="solid"/>
          </a:ln>
        </p:spPr>
      </p:sp>
      <p:sp>
        <p:nvSpPr>
          <p:cNvPr id="9" name="Text 7"/>
          <p:cNvSpPr/>
          <p:nvPr/>
        </p:nvSpPr>
        <p:spPr>
          <a:xfrm>
            <a:off x="1600200" y="1463040"/>
            <a:ext cx="1005840" cy="1005840"/>
          </a:xfrm>
          <a:prstGeom prst="rect">
            <a:avLst/>
          </a:prstGeom>
          <a:noFill/>
          <a:ln/>
        </p:spPr>
        <p:txBody>
          <a:bodyPr wrap="square" rtlCol="0" anchor="ctr">
            <a:normAutofit/>
          </a:bodyPr>
          <a:lstStyle/>
          <a:p>
            <a:pPr algn="ctr" indent="0" marL="0">
              <a:buNone/>
            </a:pPr>
            <a:r>
              <a:rPr lang="en-US" sz="950" b="1" dirty="0">
                <a:solidFill>
                  <a:srgbClr val="1E3A8A"/>
                </a:solidFill>
                <a:latin typeface="Arial" pitchFamily="34" charset="0"/>
                <a:ea typeface="Arial" pitchFamily="34" charset="-122"/>
                <a:cs typeface="Arial" pitchFamily="34" charset="-120"/>
              </a:rPr>
              <a:t>Frontend</a:t>
            </a:r>
            <a:endParaRPr lang="en-US" sz="950" dirty="0"/>
          </a:p>
          <a:p>
            <a:pPr algn="ctr" indent="0" marL="0">
              <a:buNone/>
            </a:pPr>
            <a:r>
              <a:rPr lang="en-US" sz="950" b="1" dirty="0">
                <a:solidFill>
                  <a:srgbClr val="1E3A8A"/>
                </a:solidFill>
                <a:latin typeface="Arial" pitchFamily="34" charset="0"/>
                <a:ea typeface="Arial" pitchFamily="34" charset="-122"/>
                <a:cs typeface="Arial" pitchFamily="34" charset="-120"/>
              </a:rPr>
              <a:t>(HTML, CSS, JS)</a:t>
            </a:r>
            <a:endParaRPr lang="en-US" sz="950" dirty="0"/>
          </a:p>
        </p:txBody>
      </p:sp>
      <p:sp>
        <p:nvSpPr>
          <p:cNvPr id="10" name="Shape 8"/>
          <p:cNvSpPr/>
          <p:nvPr/>
        </p:nvSpPr>
        <p:spPr>
          <a:xfrm>
            <a:off x="2834640" y="1463040"/>
            <a:ext cx="1005840" cy="1005840"/>
          </a:xfrm>
          <a:prstGeom prst="roundRect">
            <a:avLst>
              <a:gd name="adj" fmla="val 4545"/>
            </a:avLst>
          </a:prstGeom>
          <a:solidFill>
            <a:srgbClr val="FFF7ED"/>
          </a:solidFill>
          <a:ln w="19050">
            <a:solidFill>
              <a:srgbClr val="EA580C"/>
            </a:solidFill>
            <a:prstDash val="solid"/>
          </a:ln>
        </p:spPr>
      </p:sp>
      <p:sp>
        <p:nvSpPr>
          <p:cNvPr id="11" name="Text 9"/>
          <p:cNvSpPr/>
          <p:nvPr/>
        </p:nvSpPr>
        <p:spPr>
          <a:xfrm>
            <a:off x="2834640" y="1463040"/>
            <a:ext cx="1005840" cy="1005840"/>
          </a:xfrm>
          <a:prstGeom prst="rect">
            <a:avLst/>
          </a:prstGeom>
          <a:noFill/>
          <a:ln/>
        </p:spPr>
        <p:txBody>
          <a:bodyPr wrap="square" rtlCol="0" anchor="ctr">
            <a:normAutofit/>
          </a:bodyPr>
          <a:lstStyle/>
          <a:p>
            <a:pPr algn="ctr" indent="0" marL="0">
              <a:buNone/>
            </a:pPr>
            <a:r>
              <a:rPr lang="en-US" sz="950" b="1" dirty="0">
                <a:solidFill>
                  <a:srgbClr val="EA580C"/>
                </a:solidFill>
                <a:latin typeface="Arial" pitchFamily="34" charset="0"/>
                <a:ea typeface="Arial" pitchFamily="34" charset="-122"/>
                <a:cs typeface="Arial" pitchFamily="34" charset="-120"/>
              </a:rPr>
              <a:t>Express.js</a:t>
            </a:r>
            <a:endParaRPr lang="en-US" sz="950" dirty="0"/>
          </a:p>
          <a:p>
            <a:pPr algn="ctr" indent="0" marL="0">
              <a:buNone/>
            </a:pPr>
            <a:r>
              <a:rPr lang="en-US" sz="950" b="1" dirty="0">
                <a:solidFill>
                  <a:srgbClr val="EA580C"/>
                </a:solidFill>
                <a:latin typeface="Arial" pitchFamily="34" charset="0"/>
                <a:ea typeface="Arial" pitchFamily="34" charset="-122"/>
                <a:cs typeface="Arial" pitchFamily="34" charset="-120"/>
              </a:rPr>
              <a:t>Backend</a:t>
            </a:r>
            <a:endParaRPr lang="en-US" sz="950" dirty="0"/>
          </a:p>
        </p:txBody>
      </p:sp>
      <p:sp>
        <p:nvSpPr>
          <p:cNvPr id="12" name="Shape 10"/>
          <p:cNvSpPr/>
          <p:nvPr/>
        </p:nvSpPr>
        <p:spPr>
          <a:xfrm>
            <a:off x="4069080" y="1463040"/>
            <a:ext cx="1005840" cy="1005840"/>
          </a:xfrm>
          <a:prstGeom prst="roundRect">
            <a:avLst>
              <a:gd name="adj" fmla="val 4545"/>
            </a:avLst>
          </a:prstGeom>
          <a:solidFill>
            <a:srgbClr val="FFF7ED"/>
          </a:solidFill>
          <a:ln w="19050">
            <a:solidFill>
              <a:srgbClr val="EA580C"/>
            </a:solidFill>
            <a:prstDash val="solid"/>
          </a:ln>
        </p:spPr>
      </p:sp>
      <p:sp>
        <p:nvSpPr>
          <p:cNvPr id="13" name="Text 11"/>
          <p:cNvSpPr/>
          <p:nvPr/>
        </p:nvSpPr>
        <p:spPr>
          <a:xfrm>
            <a:off x="4069080" y="1463040"/>
            <a:ext cx="1005840" cy="1005840"/>
          </a:xfrm>
          <a:prstGeom prst="rect">
            <a:avLst/>
          </a:prstGeom>
          <a:noFill/>
          <a:ln/>
        </p:spPr>
        <p:txBody>
          <a:bodyPr wrap="square" rtlCol="0" anchor="ctr">
            <a:normAutofit/>
          </a:bodyPr>
          <a:lstStyle/>
          <a:p>
            <a:pPr algn="ctr" indent="0" marL="0">
              <a:buNone/>
            </a:pPr>
            <a:r>
              <a:rPr lang="en-US" sz="950" b="1" dirty="0">
                <a:solidFill>
                  <a:srgbClr val="EA580C"/>
                </a:solidFill>
                <a:latin typeface="Arial" pitchFamily="34" charset="0"/>
                <a:ea typeface="Arial" pitchFamily="34" charset="-122"/>
                <a:cs typeface="Arial" pitchFamily="34" charset="-120"/>
              </a:rPr>
              <a:t>API Layer</a:t>
            </a:r>
            <a:endParaRPr lang="en-US" sz="950" dirty="0"/>
          </a:p>
          <a:p>
            <a:pPr algn="ctr" indent="0" marL="0">
              <a:buNone/>
            </a:pPr>
            <a:r>
              <a:rPr lang="en-US" sz="950" b="1" dirty="0">
                <a:solidFill>
                  <a:srgbClr val="EA580C"/>
                </a:solidFill>
                <a:latin typeface="Arial" pitchFamily="34" charset="0"/>
                <a:ea typeface="Arial" pitchFamily="34" charset="-122"/>
                <a:cs typeface="Arial" pitchFamily="34" charset="-120"/>
              </a:rPr>
              <a:t>(Endpoints)</a:t>
            </a:r>
            <a:endParaRPr lang="en-US" sz="950" dirty="0"/>
          </a:p>
        </p:txBody>
      </p:sp>
      <p:sp>
        <p:nvSpPr>
          <p:cNvPr id="14" name="Shape 12"/>
          <p:cNvSpPr/>
          <p:nvPr/>
        </p:nvSpPr>
        <p:spPr>
          <a:xfrm>
            <a:off x="5303520" y="1463040"/>
            <a:ext cx="1005840" cy="1005840"/>
          </a:xfrm>
          <a:prstGeom prst="roundRect">
            <a:avLst>
              <a:gd name="adj" fmla="val 4545"/>
            </a:avLst>
          </a:prstGeom>
          <a:solidFill>
            <a:srgbClr val="F0FDF4"/>
          </a:solidFill>
          <a:ln w="19050">
            <a:solidFill>
              <a:srgbClr val="16A34A"/>
            </a:solidFill>
            <a:prstDash val="solid"/>
          </a:ln>
        </p:spPr>
      </p:sp>
      <p:sp>
        <p:nvSpPr>
          <p:cNvPr id="15" name="Text 13"/>
          <p:cNvSpPr/>
          <p:nvPr/>
        </p:nvSpPr>
        <p:spPr>
          <a:xfrm>
            <a:off x="5303520" y="1463040"/>
            <a:ext cx="1005840" cy="1005840"/>
          </a:xfrm>
          <a:prstGeom prst="rect">
            <a:avLst/>
          </a:prstGeom>
          <a:noFill/>
          <a:ln/>
        </p:spPr>
        <p:txBody>
          <a:bodyPr wrap="square" rtlCol="0" anchor="ctr">
            <a:normAutofit/>
          </a:bodyPr>
          <a:lstStyle/>
          <a:p>
            <a:pPr algn="ctr" indent="0" marL="0">
              <a:buNone/>
            </a:pPr>
            <a:r>
              <a:rPr lang="en-US" sz="950" b="1" dirty="0">
                <a:solidFill>
                  <a:srgbClr val="16A34A"/>
                </a:solidFill>
                <a:latin typeface="Arial" pitchFamily="34" charset="0"/>
                <a:ea typeface="Arial" pitchFamily="34" charset="-122"/>
                <a:cs typeface="Arial" pitchFamily="34" charset="-120"/>
              </a:rPr>
              <a:t>JSON DB</a:t>
            </a:r>
            <a:endParaRPr lang="en-US" sz="950" dirty="0"/>
          </a:p>
          <a:p>
            <a:pPr algn="ctr" indent="0" marL="0">
              <a:buNone/>
            </a:pPr>
            <a:r>
              <a:rPr lang="en-US" sz="950" b="1" dirty="0">
                <a:solidFill>
                  <a:srgbClr val="16A34A"/>
                </a:solidFill>
                <a:latin typeface="Arial" pitchFamily="34" charset="0"/>
                <a:ea typeface="Arial" pitchFamily="34" charset="-122"/>
                <a:cs typeface="Arial" pitchFamily="34" charset="-120"/>
              </a:rPr>
              <a:t>(db.json)</a:t>
            </a:r>
            <a:endParaRPr lang="en-US" sz="950" dirty="0"/>
          </a:p>
        </p:txBody>
      </p:sp>
      <p:sp>
        <p:nvSpPr>
          <p:cNvPr id="16" name="Shape 14"/>
          <p:cNvSpPr/>
          <p:nvPr/>
        </p:nvSpPr>
        <p:spPr>
          <a:xfrm>
            <a:off x="6537960" y="1463040"/>
            <a:ext cx="914400" cy="1005840"/>
          </a:xfrm>
          <a:prstGeom prst="roundRect">
            <a:avLst>
              <a:gd name="adj" fmla="val 5000"/>
            </a:avLst>
          </a:prstGeom>
          <a:solidFill>
            <a:srgbClr val="F8FAFC"/>
          </a:solidFill>
          <a:ln w="19050">
            <a:solidFill>
              <a:srgbClr val="3B82F6"/>
            </a:solidFill>
            <a:prstDash val="solid"/>
          </a:ln>
        </p:spPr>
      </p:sp>
      <p:sp>
        <p:nvSpPr>
          <p:cNvPr id="17" name="Text 15"/>
          <p:cNvSpPr/>
          <p:nvPr/>
        </p:nvSpPr>
        <p:spPr>
          <a:xfrm>
            <a:off x="6537960" y="1463040"/>
            <a:ext cx="914400" cy="1005840"/>
          </a:xfrm>
          <a:prstGeom prst="rect">
            <a:avLst/>
          </a:prstGeom>
          <a:noFill/>
          <a:ln/>
        </p:spPr>
        <p:txBody>
          <a:bodyPr wrap="square" rtlCol="0" anchor="ctr">
            <a:normAutofit/>
          </a:bodyPr>
          <a:lstStyle/>
          <a:p>
            <a:pPr algn="ctr" indent="0" marL="0">
              <a:buNone/>
            </a:pPr>
            <a:r>
              <a:rPr lang="en-US" sz="950" b="1" dirty="0">
                <a:solidFill>
                  <a:srgbClr val="1E3A8A"/>
                </a:solidFill>
                <a:latin typeface="Arial" pitchFamily="34" charset="0"/>
                <a:ea typeface="Arial" pitchFamily="34" charset="-122"/>
                <a:cs typeface="Arial" pitchFamily="34" charset="-120"/>
              </a:rPr>
              <a:t>Response</a:t>
            </a:r>
            <a:endParaRPr lang="en-US" sz="950" dirty="0"/>
          </a:p>
          <a:p>
            <a:pPr algn="ctr" indent="0" marL="0">
              <a:buNone/>
            </a:pPr>
            <a:r>
              <a:rPr lang="en-US" sz="950" b="1" dirty="0">
                <a:solidFill>
                  <a:srgbClr val="1E3A8A"/>
                </a:solidFill>
                <a:latin typeface="Arial" pitchFamily="34" charset="0"/>
                <a:ea typeface="Arial" pitchFamily="34" charset="-122"/>
                <a:cs typeface="Arial" pitchFamily="34" charset="-120"/>
              </a:rPr>
              <a:t>Payload</a:t>
            </a:r>
            <a:endParaRPr lang="en-US" sz="950" dirty="0"/>
          </a:p>
        </p:txBody>
      </p:sp>
      <p:sp>
        <p:nvSpPr>
          <p:cNvPr id="18" name="Shape 16"/>
          <p:cNvSpPr/>
          <p:nvPr/>
        </p:nvSpPr>
        <p:spPr>
          <a:xfrm>
            <a:off x="7680960" y="1463040"/>
            <a:ext cx="914400" cy="1005840"/>
          </a:xfrm>
          <a:prstGeom prst="roundRect">
            <a:avLst>
              <a:gd name="adj" fmla="val 5000"/>
            </a:avLst>
          </a:prstGeom>
          <a:solidFill>
            <a:srgbClr val="F8FAFC"/>
          </a:solidFill>
          <a:ln w="19050">
            <a:solidFill>
              <a:srgbClr val="3B82F6"/>
            </a:solidFill>
            <a:prstDash val="solid"/>
          </a:ln>
        </p:spPr>
      </p:sp>
      <p:sp>
        <p:nvSpPr>
          <p:cNvPr id="19" name="Text 17"/>
          <p:cNvSpPr/>
          <p:nvPr/>
        </p:nvSpPr>
        <p:spPr>
          <a:xfrm>
            <a:off x="7680960" y="1463040"/>
            <a:ext cx="914400" cy="1005840"/>
          </a:xfrm>
          <a:prstGeom prst="rect">
            <a:avLst/>
          </a:prstGeom>
          <a:noFill/>
          <a:ln/>
        </p:spPr>
        <p:txBody>
          <a:bodyPr wrap="square" rtlCol="0" anchor="ctr">
            <a:normAutofit/>
          </a:bodyPr>
          <a:lstStyle/>
          <a:p>
            <a:pPr algn="ctr" indent="0" marL="0">
              <a:buNone/>
            </a:pPr>
            <a:r>
              <a:rPr lang="en-US" sz="950" b="1" dirty="0">
                <a:solidFill>
                  <a:srgbClr val="1E3A8A"/>
                </a:solidFill>
                <a:latin typeface="Arial" pitchFamily="34" charset="0"/>
                <a:ea typeface="Arial" pitchFamily="34" charset="-122"/>
                <a:cs typeface="Arial" pitchFamily="34" charset="-120"/>
              </a:rPr>
              <a:t>UI Preview</a:t>
            </a:r>
            <a:endParaRPr lang="en-US" sz="950" dirty="0"/>
          </a:p>
          <a:p>
            <a:pPr algn="ctr" indent="0" marL="0">
              <a:buNone/>
            </a:pPr>
            <a:r>
              <a:rPr lang="en-US" sz="950" b="1" dirty="0">
                <a:solidFill>
                  <a:srgbClr val="1E3A8A"/>
                </a:solidFill>
                <a:latin typeface="Arial" pitchFamily="34" charset="0"/>
                <a:ea typeface="Arial" pitchFamily="34" charset="-122"/>
                <a:cs typeface="Arial" pitchFamily="34" charset="-120"/>
              </a:rPr>
              <a:t>(Mockups)</a:t>
            </a:r>
            <a:endParaRPr lang="en-US" sz="950" dirty="0"/>
          </a:p>
        </p:txBody>
      </p:sp>
      <p:sp>
        <p:nvSpPr>
          <p:cNvPr id="20" name="Shape 18"/>
          <p:cNvSpPr/>
          <p:nvPr/>
        </p:nvSpPr>
        <p:spPr>
          <a:xfrm>
            <a:off x="1371600" y="1874520"/>
            <a:ext cx="228600" cy="182880"/>
          </a:xfrm>
          <a:prstGeom prst="rightArrow">
            <a:avLst/>
          </a:prstGeom>
          <a:solidFill>
            <a:srgbClr val="CBD5E1"/>
          </a:solidFill>
          <a:ln/>
        </p:spPr>
      </p:sp>
      <p:sp>
        <p:nvSpPr>
          <p:cNvPr id="21" name="Shape 19"/>
          <p:cNvSpPr/>
          <p:nvPr/>
        </p:nvSpPr>
        <p:spPr>
          <a:xfrm>
            <a:off x="2606040" y="1874520"/>
            <a:ext cx="228600" cy="182880"/>
          </a:xfrm>
          <a:prstGeom prst="rightArrow">
            <a:avLst/>
          </a:prstGeom>
          <a:solidFill>
            <a:srgbClr val="CBD5E1"/>
          </a:solidFill>
          <a:ln/>
        </p:spPr>
      </p:sp>
      <p:sp>
        <p:nvSpPr>
          <p:cNvPr id="22" name="Shape 20"/>
          <p:cNvSpPr/>
          <p:nvPr/>
        </p:nvSpPr>
        <p:spPr>
          <a:xfrm>
            <a:off x="3840480" y="1874520"/>
            <a:ext cx="228600" cy="182880"/>
          </a:xfrm>
          <a:prstGeom prst="rightArrow">
            <a:avLst/>
          </a:prstGeom>
          <a:solidFill>
            <a:srgbClr val="CBD5E1"/>
          </a:solidFill>
          <a:ln/>
        </p:spPr>
      </p:sp>
      <p:sp>
        <p:nvSpPr>
          <p:cNvPr id="23" name="Shape 21"/>
          <p:cNvSpPr/>
          <p:nvPr/>
        </p:nvSpPr>
        <p:spPr>
          <a:xfrm>
            <a:off x="5074920" y="1874520"/>
            <a:ext cx="228600" cy="182880"/>
          </a:xfrm>
          <a:prstGeom prst="rightArrow">
            <a:avLst/>
          </a:prstGeom>
          <a:solidFill>
            <a:srgbClr val="CBD5E1"/>
          </a:solidFill>
          <a:ln/>
        </p:spPr>
      </p:sp>
      <p:sp>
        <p:nvSpPr>
          <p:cNvPr id="24" name="Shape 22"/>
          <p:cNvSpPr/>
          <p:nvPr/>
        </p:nvSpPr>
        <p:spPr>
          <a:xfrm>
            <a:off x="6309360" y="1874520"/>
            <a:ext cx="228600" cy="182880"/>
          </a:xfrm>
          <a:prstGeom prst="rightArrow">
            <a:avLst/>
          </a:prstGeom>
          <a:solidFill>
            <a:srgbClr val="CBD5E1"/>
          </a:solidFill>
          <a:ln/>
        </p:spPr>
      </p:sp>
      <p:sp>
        <p:nvSpPr>
          <p:cNvPr id="25" name="Shape 23"/>
          <p:cNvSpPr/>
          <p:nvPr/>
        </p:nvSpPr>
        <p:spPr>
          <a:xfrm>
            <a:off x="7452360" y="1874520"/>
            <a:ext cx="228600" cy="182880"/>
          </a:xfrm>
          <a:prstGeom prst="rightArrow">
            <a:avLst/>
          </a:prstGeom>
          <a:solidFill>
            <a:srgbClr val="CBD5E1"/>
          </a:solidFill>
          <a:ln/>
        </p:spPr>
      </p:sp>
      <p:sp>
        <p:nvSpPr>
          <p:cNvPr id="26" name="Text 24"/>
          <p:cNvSpPr/>
          <p:nvPr/>
        </p:nvSpPr>
        <p:spPr>
          <a:xfrm>
            <a:off x="548640" y="2651760"/>
            <a:ext cx="8046720" cy="1920240"/>
          </a:xfrm>
          <a:prstGeom prst="rect">
            <a:avLst/>
          </a:prstGeom>
          <a:noFill/>
          <a:ln/>
        </p:spPr>
        <p:txBody>
          <a:bodyPr wrap="square" rtlCol="0" anchor="ctr">
            <a:normAutofit/>
          </a:bodyPr>
          <a:lstStyle/>
          <a:p>
            <a:pPr indent="0" marL="0">
              <a:buNone/>
            </a:pPr>
            <a:r>
              <a:rPr lang="en-US" sz="1100" dirty="0">
                <a:solidFill>
                  <a:srgbClr val="1E293B"/>
                </a:solidFill>
                <a:latin typeface="Arial" pitchFamily="34" charset="0"/>
                <a:ea typeface="Arial" pitchFamily="34" charset="-122"/>
                <a:cs typeface="Arial" pitchFamily="34" charset="-120"/>
              </a:rPr>
              <a:t>• User Initiated Form: Captures business details, goals, audience, platform, and tone in UI.</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Client-to-Server Fetch: Dispatches asynchronous GET and POST payloads to specific REST backend routes.</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Backend Route Processing: Express.js acts as an API controller, processing request arguments.</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JSON Database Persistence: Express utilizes Node's 'fs' library to write data documents securely to db.json.</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Response Flow &amp; Preview: Returns structured ad copy object to render authentic platform previews in real time.</a:t>
            </a:r>
            <a:endParaRPr lang="en-US" sz="1100" dirty="0"/>
          </a:p>
        </p:txBody>
      </p:sp>
      <p:sp>
        <p:nvSpPr>
          <p:cNvPr id="27" name="Text 25"/>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28" name="Text 26"/>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Technologies Used</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Segmented layer-by-layer technical stack breakdown</a:t>
            </a:r>
            <a:endParaRPr lang="en-US" sz="1200" dirty="0"/>
          </a:p>
        </p:txBody>
      </p:sp>
      <p:sp>
        <p:nvSpPr>
          <p:cNvPr id="6" name="Shape 4"/>
          <p:cNvSpPr/>
          <p:nvPr/>
        </p:nvSpPr>
        <p:spPr>
          <a:xfrm>
            <a:off x="548640" y="1280160"/>
            <a:ext cx="1828800" cy="3108960"/>
          </a:xfrm>
          <a:prstGeom prst="roundRect">
            <a:avLst>
              <a:gd name="adj" fmla="val 2500"/>
            </a:avLst>
          </a:prstGeom>
          <a:solidFill>
            <a:srgbClr val="F8FAFC"/>
          </a:solidFill>
          <a:ln w="19050">
            <a:solidFill>
              <a:srgbClr val="3B82F6"/>
            </a:solidFill>
            <a:prstDash val="solid"/>
          </a:ln>
        </p:spPr>
      </p:sp>
      <p:sp>
        <p:nvSpPr>
          <p:cNvPr id="7" name="Text 5"/>
          <p:cNvSpPr/>
          <p:nvPr/>
        </p:nvSpPr>
        <p:spPr>
          <a:xfrm>
            <a:off x="640080" y="1371600"/>
            <a:ext cx="1645920" cy="274320"/>
          </a:xfrm>
          <a:prstGeom prst="rect">
            <a:avLst/>
          </a:prstGeom>
          <a:noFill/>
          <a:ln/>
        </p:spPr>
        <p:txBody>
          <a:bodyPr wrap="square" rtlCol="0" anchor="ctr">
            <a:normAutofit/>
          </a:bodyPr>
          <a:lstStyle/>
          <a:p>
            <a:pPr indent="0" marL="0">
              <a:buNone/>
            </a:pPr>
            <a:r>
              <a:rPr lang="en-US" sz="1300" b="1" dirty="0">
                <a:solidFill>
                  <a:srgbClr val="1E3A8A"/>
                </a:solidFill>
                <a:latin typeface="Segoe UI" pitchFamily="34" charset="0"/>
                <a:ea typeface="Segoe UI" pitchFamily="34" charset="-122"/>
                <a:cs typeface="Segoe UI" pitchFamily="34" charset="-120"/>
              </a:rPr>
              <a:t>FRONTEND</a:t>
            </a:r>
            <a:endParaRPr lang="en-US" sz="1300" dirty="0"/>
          </a:p>
        </p:txBody>
      </p:sp>
      <p:sp>
        <p:nvSpPr>
          <p:cNvPr id="8" name="Text 6"/>
          <p:cNvSpPr/>
          <p:nvPr/>
        </p:nvSpPr>
        <p:spPr>
          <a:xfrm>
            <a:off x="640080" y="1737360"/>
            <a:ext cx="1645920" cy="256032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 HTML5</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Provides semantic DOM structure.</a:t>
            </a:r>
            <a:endParaRPr lang="en-US" sz="1000" dirty="0"/>
          </a:p>
          <a:p>
            <a:pPr indent="0" marL="0">
              <a:buNone/>
            </a:pP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CSS3</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Handles responsive design &amp; dark mode.</a:t>
            </a:r>
            <a:endParaRPr lang="en-US" sz="1000" dirty="0"/>
          </a:p>
          <a:p>
            <a:pPr indent="0" marL="0">
              <a:buNone/>
            </a:pP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JavaScript</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Runs DOM logic &amp; client event handling.</a:t>
            </a:r>
            <a:endParaRPr lang="en-US" sz="1000" dirty="0"/>
          </a:p>
        </p:txBody>
      </p:sp>
      <p:sp>
        <p:nvSpPr>
          <p:cNvPr id="9" name="Shape 7"/>
          <p:cNvSpPr/>
          <p:nvPr/>
        </p:nvSpPr>
        <p:spPr>
          <a:xfrm>
            <a:off x="2560320" y="1280160"/>
            <a:ext cx="1828800" cy="3108960"/>
          </a:xfrm>
          <a:prstGeom prst="roundRect">
            <a:avLst>
              <a:gd name="adj" fmla="val 2500"/>
            </a:avLst>
          </a:prstGeom>
          <a:solidFill>
            <a:srgbClr val="FFF7ED"/>
          </a:solidFill>
          <a:ln w="19050">
            <a:solidFill>
              <a:srgbClr val="EA580C"/>
            </a:solidFill>
            <a:prstDash val="solid"/>
          </a:ln>
        </p:spPr>
      </p:sp>
      <p:sp>
        <p:nvSpPr>
          <p:cNvPr id="10" name="Text 8"/>
          <p:cNvSpPr/>
          <p:nvPr/>
        </p:nvSpPr>
        <p:spPr>
          <a:xfrm>
            <a:off x="2651760" y="1371600"/>
            <a:ext cx="1645920" cy="274320"/>
          </a:xfrm>
          <a:prstGeom prst="rect">
            <a:avLst/>
          </a:prstGeom>
          <a:noFill/>
          <a:ln/>
        </p:spPr>
        <p:txBody>
          <a:bodyPr wrap="square" rtlCol="0" anchor="ctr">
            <a:normAutofit/>
          </a:bodyPr>
          <a:lstStyle/>
          <a:p>
            <a:pPr indent="0" marL="0">
              <a:buNone/>
            </a:pPr>
            <a:r>
              <a:rPr lang="en-US" sz="1300" b="1" dirty="0">
                <a:solidFill>
                  <a:srgbClr val="EA580C"/>
                </a:solidFill>
                <a:latin typeface="Segoe UI" pitchFamily="34" charset="0"/>
                <a:ea typeface="Segoe UI" pitchFamily="34" charset="-122"/>
                <a:cs typeface="Segoe UI" pitchFamily="34" charset="-120"/>
              </a:rPr>
              <a:t>BACKEND</a:t>
            </a:r>
            <a:endParaRPr lang="en-US" sz="1300" dirty="0"/>
          </a:p>
        </p:txBody>
      </p:sp>
      <p:sp>
        <p:nvSpPr>
          <p:cNvPr id="11" name="Text 9"/>
          <p:cNvSpPr/>
          <p:nvPr/>
        </p:nvSpPr>
        <p:spPr>
          <a:xfrm>
            <a:off x="2651760" y="1737360"/>
            <a:ext cx="1645920" cy="256032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 Node.js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JavaScript runtime execution engine.</a:t>
            </a:r>
            <a:endParaRPr lang="en-US" sz="1000" dirty="0"/>
          </a:p>
          <a:p>
            <a:pPr indent="0" marL="0">
              <a:buNone/>
            </a:pP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Express.js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Lightweight REST routing server.</a:t>
            </a:r>
            <a:endParaRPr lang="en-US" sz="1000" dirty="0"/>
          </a:p>
        </p:txBody>
      </p:sp>
      <p:sp>
        <p:nvSpPr>
          <p:cNvPr id="12" name="Shape 10"/>
          <p:cNvSpPr/>
          <p:nvPr/>
        </p:nvSpPr>
        <p:spPr>
          <a:xfrm>
            <a:off x="4572000" y="1280160"/>
            <a:ext cx="1828800" cy="3108960"/>
          </a:xfrm>
          <a:prstGeom prst="roundRect">
            <a:avLst>
              <a:gd name="adj" fmla="val 2500"/>
            </a:avLst>
          </a:prstGeom>
          <a:solidFill>
            <a:srgbClr val="F0FDF4"/>
          </a:solidFill>
          <a:ln w="19050">
            <a:solidFill>
              <a:srgbClr val="16A34A"/>
            </a:solidFill>
            <a:prstDash val="solid"/>
          </a:ln>
        </p:spPr>
      </p:sp>
      <p:sp>
        <p:nvSpPr>
          <p:cNvPr id="13" name="Text 11"/>
          <p:cNvSpPr/>
          <p:nvPr/>
        </p:nvSpPr>
        <p:spPr>
          <a:xfrm>
            <a:off x="4663440" y="1371600"/>
            <a:ext cx="1645920" cy="274320"/>
          </a:xfrm>
          <a:prstGeom prst="rect">
            <a:avLst/>
          </a:prstGeom>
          <a:noFill/>
          <a:ln/>
        </p:spPr>
        <p:txBody>
          <a:bodyPr wrap="square" rtlCol="0" anchor="ctr">
            <a:normAutofit/>
          </a:bodyPr>
          <a:lstStyle/>
          <a:p>
            <a:pPr indent="0" marL="0">
              <a:buNone/>
            </a:pPr>
            <a:r>
              <a:rPr lang="en-US" sz="1300" b="1" dirty="0">
                <a:solidFill>
                  <a:srgbClr val="16A34A"/>
                </a:solidFill>
                <a:latin typeface="Segoe UI" pitchFamily="34" charset="0"/>
                <a:ea typeface="Segoe UI" pitchFamily="34" charset="-122"/>
                <a:cs typeface="Segoe UI" pitchFamily="34" charset="-120"/>
              </a:rPr>
              <a:t>DATABASE</a:t>
            </a:r>
            <a:endParaRPr lang="en-US" sz="1300" dirty="0"/>
          </a:p>
        </p:txBody>
      </p:sp>
      <p:sp>
        <p:nvSpPr>
          <p:cNvPr id="14" name="Text 12"/>
          <p:cNvSpPr/>
          <p:nvPr/>
        </p:nvSpPr>
        <p:spPr>
          <a:xfrm>
            <a:off x="4663440" y="1737360"/>
            <a:ext cx="1645920" cy="256032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 db.json</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Flat JSON document store.</a:t>
            </a:r>
            <a:endParaRPr lang="en-US" sz="1000" dirty="0"/>
          </a:p>
          <a:p>
            <a:pPr indent="0" marL="0">
              <a:buNone/>
            </a:pP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File System (fs)</a:t>
            </a:r>
            <a:endParaRPr lang="en-US" sz="1000" dirty="0"/>
          </a:p>
          <a:p>
            <a:pPr indent="0" marL="0">
              <a:buNone/>
            </a:pPr>
            <a:r>
              <a:rPr lang="en-US" sz="1000" dirty="0">
                <a:solidFill>
                  <a:srgbClr val="1E293B"/>
                </a:solidFill>
                <a:latin typeface="Arial" pitchFamily="34" charset="0"/>
                <a:ea typeface="Arial" pitchFamily="34" charset="-122"/>
                <a:cs typeface="Arial" pitchFamily="34" charset="-120"/>
              </a:rPr>
              <a:t>  Native Node module for reading and writing database records.</a:t>
            </a:r>
            <a:endParaRPr lang="en-US" sz="1000" dirty="0"/>
          </a:p>
        </p:txBody>
      </p:sp>
      <p:sp>
        <p:nvSpPr>
          <p:cNvPr id="15" name="Shape 13"/>
          <p:cNvSpPr/>
          <p:nvPr/>
        </p:nvSpPr>
        <p:spPr>
          <a:xfrm>
            <a:off x="6583680" y="1280160"/>
            <a:ext cx="2011680" cy="3108960"/>
          </a:xfrm>
          <a:prstGeom prst="roundRect">
            <a:avLst>
              <a:gd name="adj" fmla="val 2273"/>
            </a:avLst>
          </a:prstGeom>
          <a:solidFill>
            <a:srgbClr val="F8FAFC"/>
          </a:solidFill>
          <a:ln w="19050">
            <a:solidFill>
              <a:srgbClr val="CBD5E1"/>
            </a:solidFill>
            <a:prstDash val="solid"/>
          </a:ln>
        </p:spPr>
      </p:sp>
      <p:sp>
        <p:nvSpPr>
          <p:cNvPr id="16" name="Text 14"/>
          <p:cNvSpPr/>
          <p:nvPr/>
        </p:nvSpPr>
        <p:spPr>
          <a:xfrm>
            <a:off x="6675120" y="1371600"/>
            <a:ext cx="1828800" cy="274320"/>
          </a:xfrm>
          <a:prstGeom prst="rect">
            <a:avLst/>
          </a:prstGeom>
          <a:noFill/>
          <a:ln/>
        </p:spPr>
        <p:txBody>
          <a:bodyPr wrap="square" rtlCol="0" anchor="ctr">
            <a:normAutofit/>
          </a:bodyPr>
          <a:lstStyle/>
          <a:p>
            <a:pPr indent="0" marL="0">
              <a:buNone/>
            </a:pPr>
            <a:r>
              <a:rPr lang="en-US" sz="1300" b="1" dirty="0">
                <a:solidFill>
                  <a:srgbClr val="475569"/>
                </a:solidFill>
                <a:latin typeface="Segoe UI" pitchFamily="34" charset="0"/>
                <a:ea typeface="Segoe UI" pitchFamily="34" charset="-122"/>
                <a:cs typeface="Segoe UI" pitchFamily="34" charset="-120"/>
              </a:rPr>
              <a:t>LIBRARIES</a:t>
            </a:r>
            <a:endParaRPr lang="en-US" sz="1300" dirty="0"/>
          </a:p>
        </p:txBody>
      </p:sp>
      <p:sp>
        <p:nvSpPr>
          <p:cNvPr id="17" name="Text 15"/>
          <p:cNvSpPr/>
          <p:nvPr/>
        </p:nvSpPr>
        <p:spPr>
          <a:xfrm>
            <a:off x="6675120" y="1737360"/>
            <a:ext cx="1828800" cy="2560320"/>
          </a:xfrm>
          <a:prstGeom prst="rect">
            <a:avLst/>
          </a:prstGeom>
          <a:noFill/>
          <a:ln/>
        </p:spPr>
        <p:txBody>
          <a:bodyPr wrap="square" rtlCol="0" anchor="ctr">
            <a:normAutofit/>
          </a:bodyPr>
          <a:lstStyle/>
          <a:p>
            <a:pPr indent="0" marL="0">
              <a:buNone/>
            </a:pPr>
            <a:r>
              <a:rPr lang="en-US" sz="950" dirty="0">
                <a:solidFill>
                  <a:srgbClr val="1E293B"/>
                </a:solidFill>
                <a:latin typeface="Arial" pitchFamily="34" charset="0"/>
                <a:ea typeface="Arial" pitchFamily="34" charset="-122"/>
                <a:cs typeface="Arial" pitchFamily="34" charset="-120"/>
              </a:rPr>
              <a:t>• CORS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Enables secure cross-origin API calls.</a:t>
            </a:r>
            <a:endParaRPr lang="en-US" sz="950" dirty="0"/>
          </a:p>
          <a:p>
            <a:pPr indent="0" marL="0">
              <a:buNone/>
            </a:pP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Lucide Icons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Dynamic UI vector graphic icons.</a:t>
            </a:r>
            <a:endParaRPr lang="en-US" sz="950" dirty="0"/>
          </a:p>
          <a:p>
            <a:pPr indent="0" marL="0">
              <a:buNone/>
            </a:pP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Google Fonts</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Polished modern typography.</a:t>
            </a:r>
            <a:endParaRPr lang="en-US" sz="950" dirty="0"/>
          </a:p>
          <a:p>
            <a:pPr indent="0" marL="0">
              <a:buNone/>
            </a:pP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Fetch API</a:t>
            </a:r>
            <a:endParaRPr lang="en-US" sz="950" dirty="0"/>
          </a:p>
          <a:p>
            <a:pPr indent="0" marL="0">
              <a:buNone/>
            </a:pPr>
            <a:r>
              <a:rPr lang="en-US" sz="950" dirty="0">
                <a:solidFill>
                  <a:srgbClr val="1E293B"/>
                </a:solidFill>
                <a:latin typeface="Arial" pitchFamily="34" charset="0"/>
                <a:ea typeface="Arial" pitchFamily="34" charset="-122"/>
                <a:cs typeface="Arial" pitchFamily="34" charset="-120"/>
              </a:rPr>
              <a:t>  Asynchronous HTTP queries.</a:t>
            </a:r>
            <a:endParaRPr lang="en-US" sz="950" dirty="0"/>
          </a:p>
        </p:txBody>
      </p:sp>
      <p:sp>
        <p:nvSpPr>
          <p:cNvPr id="18" name="Text 16"/>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19" name="Text 17"/>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Project File Structure</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Roles and purpose of individual application files</a:t>
            </a:r>
            <a:endParaRPr lang="en-US" sz="1200" dirty="0"/>
          </a:p>
        </p:txBody>
      </p:sp>
      <p:sp>
        <p:nvSpPr>
          <p:cNvPr id="6" name="Text 4"/>
          <p:cNvSpPr/>
          <p:nvPr/>
        </p:nvSpPr>
        <p:spPr>
          <a:xfrm>
            <a:off x="548640" y="1280160"/>
            <a:ext cx="3840480" cy="3200400"/>
          </a:xfrm>
          <a:prstGeom prst="rect">
            <a:avLst/>
          </a:prstGeom>
          <a:noFill/>
          <a:ln/>
        </p:spPr>
        <p:txBody>
          <a:bodyPr wrap="square" rtlCol="0" anchor="ctr">
            <a:normAutofit/>
          </a:bodyPr>
          <a:lstStyle/>
          <a:p>
            <a:pPr indent="0" marL="0">
              <a:buNone/>
            </a:pPr>
            <a:r>
              <a:rPr lang="en-US" sz="1050" dirty="0">
                <a:solidFill>
                  <a:srgbClr val="1E293B"/>
                </a:solidFill>
                <a:latin typeface="Arial" pitchFamily="34" charset="0"/>
                <a:ea typeface="Arial" pitchFamily="34" charset="-122"/>
                <a:cs typeface="Arial" pitchFamily="34" charset="-120"/>
              </a:rPr>
              <a:t>• index.html</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The primary UI container. Renders form inputs, preview templates, publishing queue timeline, and performance stats dashboard.</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style.css</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Contains style rules, custom CSS grid/flex parameters, clean layout spacings, and responsive dark-mode styles.</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script.js</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Manages all client-side event logic. Handles active mockup switching, fetches API data, caches Places photos, and manages PDF/PNG file compiling.</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server.js</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The backend node app. Sets up Express middleware, implements CORS rules, defines REST routing endpoints, and proxies Google Places queries.</a:t>
            </a:r>
            <a:endParaRPr lang="en-US" sz="1050" dirty="0"/>
          </a:p>
        </p:txBody>
      </p:sp>
      <p:sp>
        <p:nvSpPr>
          <p:cNvPr id="7" name="Text 5"/>
          <p:cNvSpPr/>
          <p:nvPr/>
        </p:nvSpPr>
        <p:spPr>
          <a:xfrm>
            <a:off x="4754880" y="1280160"/>
            <a:ext cx="3840480" cy="3200400"/>
          </a:xfrm>
          <a:prstGeom prst="rect">
            <a:avLst/>
          </a:prstGeom>
          <a:noFill/>
          <a:ln/>
        </p:spPr>
        <p:txBody>
          <a:bodyPr wrap="square" rtlCol="0" anchor="ctr">
            <a:normAutofit/>
          </a:bodyPr>
          <a:lstStyle/>
          <a:p>
            <a:pPr indent="0" marL="0">
              <a:buNone/>
            </a:pPr>
            <a:r>
              <a:rPr lang="en-US" sz="1050" dirty="0">
                <a:solidFill>
                  <a:srgbClr val="1E293B"/>
                </a:solidFill>
                <a:latin typeface="Arial" pitchFamily="34" charset="0"/>
                <a:ea typeface="Arial" pitchFamily="34" charset="-122"/>
                <a:cs typeface="Arial" pitchFamily="34" charset="-120"/>
              </a:rPr>
              <a:t>• db.json</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The local database. Maintains records of saved ad campaigns, active scheduling parameters, and performance tracking KPIs.</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business_image_cache.json</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The local storefront image cache. Resolves business name queries to crawled photos, reducing API request counts.</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package.json</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Project metadata and dependency tracking file, mapping Express, CORS, and script configurations.</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package-lock.json</a:t>
            </a: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Automated lock file locking specific package version installs, ensuring reproducible server runs.</a:t>
            </a:r>
            <a:endParaRPr lang="en-US" sz="1050" dirty="0"/>
          </a:p>
        </p:txBody>
      </p:sp>
      <p:sp>
        <p:nvSpPr>
          <p:cNvPr id="8" name="Text 6"/>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9" name="Text 7"/>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API Endpoints &amp; Request-Response Flow</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Exposing core REST endpoints to query and compute campaign structures</a:t>
            </a:r>
            <a:endParaRPr lang="en-US" sz="1200" dirty="0"/>
          </a:p>
        </p:txBody>
      </p:sp>
      <p:sp>
        <p:nvSpPr>
          <p:cNvPr id="6" name="Text 4"/>
          <p:cNvSpPr/>
          <p:nvPr/>
        </p:nvSpPr>
        <p:spPr>
          <a:xfrm>
            <a:off x="548640" y="1280160"/>
            <a:ext cx="3840480" cy="274320"/>
          </a:xfrm>
          <a:prstGeom prst="rect">
            <a:avLst/>
          </a:prstGeom>
          <a:noFill/>
          <a:ln/>
        </p:spPr>
        <p:txBody>
          <a:bodyPr wrap="square" rtlCol="0" anchor="ctr">
            <a:normAutofit/>
          </a:bodyPr>
          <a:lstStyle/>
          <a:p>
            <a:pPr indent="0" marL="0">
              <a:buNone/>
            </a:pPr>
            <a:r>
              <a:rPr lang="en-US" sz="1300" b="1" dirty="0">
                <a:solidFill>
                  <a:srgbClr val="1E3A8A"/>
                </a:solidFill>
                <a:latin typeface="Segoe UI" pitchFamily="34" charset="0"/>
                <a:ea typeface="Segoe UI" pitchFamily="34" charset="-122"/>
                <a:cs typeface="Segoe UI" pitchFamily="34" charset="-120"/>
              </a:rPr>
              <a:t>CORE REST API ENDPOINTS</a:t>
            </a:r>
            <a:endParaRPr lang="en-US" sz="1300" dirty="0"/>
          </a:p>
        </p:txBody>
      </p:sp>
      <p:sp>
        <p:nvSpPr>
          <p:cNvPr id="7" name="Text 5"/>
          <p:cNvSpPr/>
          <p:nvPr/>
        </p:nvSpPr>
        <p:spPr>
          <a:xfrm>
            <a:off x="548640" y="1645920"/>
            <a:ext cx="3840480" cy="2834640"/>
          </a:xfrm>
          <a:prstGeom prst="rect">
            <a:avLst/>
          </a:prstGeom>
          <a:noFill/>
          <a:ln/>
        </p:spPr>
        <p:txBody>
          <a:bodyPr wrap="square" rtlCol="0" anchor="ctr">
            <a:normAutofit/>
          </a:bodyPr>
          <a:lstStyle/>
          <a:p>
            <a:pPr indent="0" marL="0">
              <a:buNone/>
            </a:pPr>
            <a:r>
              <a:rPr lang="en-US" sz="1100" dirty="0">
                <a:solidFill>
                  <a:srgbClr val="1E293B"/>
                </a:solidFill>
                <a:latin typeface="Arial" pitchFamily="34" charset="0"/>
                <a:ea typeface="Arial" pitchFamily="34" charset="-122"/>
                <a:cs typeface="Arial" pitchFamily="34" charset="-120"/>
              </a:rPr>
              <a:t>• GET /api/history</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 Purpose: Fetches list of all saved campaign records.</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 Query Flow: Reads db.json, parses the campaign list, and returns them sorted chronologically.</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GET /api/campaign-stats</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 Purpose: Pulls aggregated advertising performance stats.</a:t>
            </a: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 Computation: Excludes drafts and scheduled items, summing up impressions, spend, clicks, and average CTR.</a:t>
            </a:r>
            <a:endParaRPr lang="en-US" sz="1100" dirty="0"/>
          </a:p>
        </p:txBody>
      </p:sp>
      <p:sp>
        <p:nvSpPr>
          <p:cNvPr id="8" name="Text 6"/>
          <p:cNvSpPr/>
          <p:nvPr/>
        </p:nvSpPr>
        <p:spPr>
          <a:xfrm>
            <a:off x="4754880" y="1280160"/>
            <a:ext cx="3840480" cy="274320"/>
          </a:xfrm>
          <a:prstGeom prst="rect">
            <a:avLst/>
          </a:prstGeom>
          <a:noFill/>
          <a:ln/>
        </p:spPr>
        <p:txBody>
          <a:bodyPr wrap="square" rtlCol="0" anchor="ctr">
            <a:normAutofit/>
          </a:bodyPr>
          <a:lstStyle/>
          <a:p>
            <a:pPr indent="0" marL="0">
              <a:buNone/>
            </a:pPr>
            <a:r>
              <a:rPr lang="en-US" sz="1300" b="1" dirty="0">
                <a:solidFill>
                  <a:srgbClr val="EA580C"/>
                </a:solidFill>
                <a:latin typeface="Segoe UI" pitchFamily="34" charset="0"/>
                <a:ea typeface="Segoe UI" pitchFamily="34" charset="-122"/>
                <a:cs typeface="Segoe UI" pitchFamily="34" charset="-120"/>
              </a:rPr>
              <a:t>REQUEST-RESPONSE LIFECYCLE</a:t>
            </a:r>
            <a:endParaRPr lang="en-US" sz="1300" dirty="0"/>
          </a:p>
        </p:txBody>
      </p:sp>
      <p:sp>
        <p:nvSpPr>
          <p:cNvPr id="9" name="Text 7"/>
          <p:cNvSpPr/>
          <p:nvPr/>
        </p:nvSpPr>
        <p:spPr>
          <a:xfrm>
            <a:off x="4754880" y="1645920"/>
            <a:ext cx="3840480" cy="2834640"/>
          </a:xfrm>
          <a:prstGeom prst="rect">
            <a:avLst/>
          </a:prstGeom>
          <a:noFill/>
          <a:ln/>
        </p:spPr>
        <p:txBody>
          <a:bodyPr wrap="square" rtlCol="0" anchor="ctr">
            <a:normAutofit/>
          </a:bodyPr>
          <a:lstStyle/>
          <a:p>
            <a:pPr indent="0" marL="0">
              <a:buNone/>
            </a:pPr>
            <a:r>
              <a:rPr lang="en-US" sz="1100" dirty="0">
                <a:solidFill>
                  <a:srgbClr val="1E293B"/>
                </a:solidFill>
                <a:latin typeface="Arial" pitchFamily="34" charset="0"/>
                <a:ea typeface="Arial" pitchFamily="34" charset="-122"/>
                <a:cs typeface="Arial" pitchFamily="34" charset="-120"/>
              </a:rPr>
              <a:t>1. Fetch Call: Client initiates an async HTTP Fetch call to server.js.</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2. Express Processing: Express routes incoming requests, verifies CORS, and checks filesystem permissions.</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3. Disk Sync: The Node file system library reads/writes data to the local db.json schema file.</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4. JSON Payload: The server compiles the output data and responds with a JSON payload to update the dashboard UI.</a:t>
            </a:r>
            <a:endParaRPr lang="en-US" sz="1100" dirty="0"/>
          </a:p>
        </p:txBody>
      </p:sp>
      <p:sp>
        <p:nvSpPr>
          <p:cNvPr id="10" name="Text 8"/>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11" name="Text 9"/>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Campaign Workflow Diagram</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Sequenced processing pipeline of ad creation and export</a:t>
            </a:r>
            <a:endParaRPr lang="en-US" sz="1200" dirty="0"/>
          </a:p>
        </p:txBody>
      </p:sp>
      <p:sp>
        <p:nvSpPr>
          <p:cNvPr id="6" name="Shape 4"/>
          <p:cNvSpPr/>
          <p:nvPr/>
        </p:nvSpPr>
        <p:spPr>
          <a:xfrm>
            <a:off x="548640" y="1280160"/>
            <a:ext cx="2560320" cy="822960"/>
          </a:xfrm>
          <a:prstGeom prst="roundRect">
            <a:avLst>
              <a:gd name="adj" fmla="val 5556"/>
            </a:avLst>
          </a:prstGeom>
          <a:solidFill>
            <a:srgbClr val="F8FAFC"/>
          </a:solidFill>
          <a:ln w="12700">
            <a:solidFill>
              <a:srgbClr val="3B82F6"/>
            </a:solidFill>
            <a:prstDash val="solid"/>
          </a:ln>
        </p:spPr>
      </p:sp>
      <p:sp>
        <p:nvSpPr>
          <p:cNvPr id="7" name="Text 5"/>
          <p:cNvSpPr/>
          <p:nvPr/>
        </p:nvSpPr>
        <p:spPr>
          <a:xfrm>
            <a:off x="640080" y="1325880"/>
            <a:ext cx="365760" cy="228600"/>
          </a:xfrm>
          <a:prstGeom prst="rect">
            <a:avLst/>
          </a:prstGeom>
          <a:noFill/>
          <a:ln/>
        </p:spPr>
        <p:txBody>
          <a:bodyPr wrap="square" rtlCol="0" anchor="ctr">
            <a:normAutofit/>
          </a:bodyPr>
          <a:lstStyle/>
          <a:p>
            <a:pPr indent="0" marL="0">
              <a:buNone/>
            </a:pPr>
            <a:r>
              <a:rPr lang="en-US" sz="1200" b="1" dirty="0">
                <a:solidFill>
                  <a:srgbClr val="3B82F6"/>
                </a:solidFill>
                <a:latin typeface="Segoe UI" pitchFamily="34" charset="0"/>
                <a:ea typeface="Segoe UI" pitchFamily="34" charset="-122"/>
                <a:cs typeface="Segoe UI" pitchFamily="34" charset="-120"/>
              </a:rPr>
              <a:t>01</a:t>
            </a:r>
            <a:endParaRPr lang="en-US" sz="1200" dirty="0"/>
          </a:p>
        </p:txBody>
      </p:sp>
      <p:sp>
        <p:nvSpPr>
          <p:cNvPr id="8" name="Text 6"/>
          <p:cNvSpPr/>
          <p:nvPr/>
        </p:nvSpPr>
        <p:spPr>
          <a:xfrm>
            <a:off x="1005840" y="132588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Inputs Details</a:t>
            </a:r>
            <a:endParaRPr lang="en-US" sz="1100" dirty="0"/>
          </a:p>
        </p:txBody>
      </p:sp>
      <p:sp>
        <p:nvSpPr>
          <p:cNvPr id="9" name="Text 7"/>
          <p:cNvSpPr/>
          <p:nvPr/>
        </p:nvSpPr>
        <p:spPr>
          <a:xfrm>
            <a:off x="640080" y="160020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User fills company details, audience, goals.</a:t>
            </a:r>
            <a:endParaRPr lang="en-US" sz="950" dirty="0"/>
          </a:p>
        </p:txBody>
      </p:sp>
      <p:sp>
        <p:nvSpPr>
          <p:cNvPr id="10" name="Shape 8"/>
          <p:cNvSpPr/>
          <p:nvPr/>
        </p:nvSpPr>
        <p:spPr>
          <a:xfrm>
            <a:off x="3291840" y="1280160"/>
            <a:ext cx="2560320" cy="822960"/>
          </a:xfrm>
          <a:prstGeom prst="roundRect">
            <a:avLst>
              <a:gd name="adj" fmla="val 5556"/>
            </a:avLst>
          </a:prstGeom>
          <a:solidFill>
            <a:srgbClr val="F8FAFC"/>
          </a:solidFill>
          <a:ln w="12700">
            <a:solidFill>
              <a:srgbClr val="3B82F6"/>
            </a:solidFill>
            <a:prstDash val="solid"/>
          </a:ln>
        </p:spPr>
      </p:sp>
      <p:sp>
        <p:nvSpPr>
          <p:cNvPr id="11" name="Text 9"/>
          <p:cNvSpPr/>
          <p:nvPr/>
        </p:nvSpPr>
        <p:spPr>
          <a:xfrm>
            <a:off x="3383280" y="1325880"/>
            <a:ext cx="365760" cy="228600"/>
          </a:xfrm>
          <a:prstGeom prst="rect">
            <a:avLst/>
          </a:prstGeom>
          <a:noFill/>
          <a:ln/>
        </p:spPr>
        <p:txBody>
          <a:bodyPr wrap="square" rtlCol="0" anchor="ctr">
            <a:normAutofit/>
          </a:bodyPr>
          <a:lstStyle/>
          <a:p>
            <a:pPr indent="0" marL="0">
              <a:buNone/>
            </a:pPr>
            <a:r>
              <a:rPr lang="en-US" sz="1200" b="1" dirty="0">
                <a:solidFill>
                  <a:srgbClr val="3B82F6"/>
                </a:solidFill>
                <a:latin typeface="Segoe UI" pitchFamily="34" charset="0"/>
                <a:ea typeface="Segoe UI" pitchFamily="34" charset="-122"/>
                <a:cs typeface="Segoe UI" pitchFamily="34" charset="-120"/>
              </a:rPr>
              <a:t>02</a:t>
            </a:r>
            <a:endParaRPr lang="en-US" sz="1200" dirty="0"/>
          </a:p>
        </p:txBody>
      </p:sp>
      <p:sp>
        <p:nvSpPr>
          <p:cNvPr id="12" name="Text 10"/>
          <p:cNvSpPr/>
          <p:nvPr/>
        </p:nvSpPr>
        <p:spPr>
          <a:xfrm>
            <a:off x="3749040" y="132588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Generate Request</a:t>
            </a:r>
            <a:endParaRPr lang="en-US" sz="1100" dirty="0"/>
          </a:p>
        </p:txBody>
      </p:sp>
      <p:sp>
        <p:nvSpPr>
          <p:cNvPr id="13" name="Text 11"/>
          <p:cNvSpPr/>
          <p:nvPr/>
        </p:nvSpPr>
        <p:spPr>
          <a:xfrm>
            <a:off x="3383280" y="160020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Triggers request payload creation in UI.</a:t>
            </a:r>
            <a:endParaRPr lang="en-US" sz="950" dirty="0"/>
          </a:p>
        </p:txBody>
      </p:sp>
      <p:sp>
        <p:nvSpPr>
          <p:cNvPr id="14" name="Shape 12"/>
          <p:cNvSpPr/>
          <p:nvPr/>
        </p:nvSpPr>
        <p:spPr>
          <a:xfrm>
            <a:off x="6035040" y="1280160"/>
            <a:ext cx="2560320" cy="822960"/>
          </a:xfrm>
          <a:prstGeom prst="roundRect">
            <a:avLst>
              <a:gd name="adj" fmla="val 5556"/>
            </a:avLst>
          </a:prstGeom>
          <a:solidFill>
            <a:srgbClr val="F8FAFC"/>
          </a:solidFill>
          <a:ln w="12700">
            <a:solidFill>
              <a:srgbClr val="3B82F6"/>
            </a:solidFill>
            <a:prstDash val="solid"/>
          </a:ln>
        </p:spPr>
      </p:sp>
      <p:sp>
        <p:nvSpPr>
          <p:cNvPr id="15" name="Text 13"/>
          <p:cNvSpPr/>
          <p:nvPr/>
        </p:nvSpPr>
        <p:spPr>
          <a:xfrm>
            <a:off x="6126480" y="1325880"/>
            <a:ext cx="365760" cy="228600"/>
          </a:xfrm>
          <a:prstGeom prst="rect">
            <a:avLst/>
          </a:prstGeom>
          <a:noFill/>
          <a:ln/>
        </p:spPr>
        <p:txBody>
          <a:bodyPr wrap="square" rtlCol="0" anchor="ctr">
            <a:normAutofit/>
          </a:bodyPr>
          <a:lstStyle/>
          <a:p>
            <a:pPr indent="0" marL="0">
              <a:buNone/>
            </a:pPr>
            <a:r>
              <a:rPr lang="en-US" sz="1200" b="1" dirty="0">
                <a:solidFill>
                  <a:srgbClr val="3B82F6"/>
                </a:solidFill>
                <a:latin typeface="Segoe UI" pitchFamily="34" charset="0"/>
                <a:ea typeface="Segoe UI" pitchFamily="34" charset="-122"/>
                <a:cs typeface="Segoe UI" pitchFamily="34" charset="-120"/>
              </a:rPr>
              <a:t>03</a:t>
            </a:r>
            <a:endParaRPr lang="en-US" sz="1200" dirty="0"/>
          </a:p>
        </p:txBody>
      </p:sp>
      <p:sp>
        <p:nvSpPr>
          <p:cNvPr id="16" name="Text 14"/>
          <p:cNvSpPr/>
          <p:nvPr/>
        </p:nvSpPr>
        <p:spPr>
          <a:xfrm>
            <a:off x="6492240" y="132588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JS Validation</a:t>
            </a:r>
            <a:endParaRPr lang="en-US" sz="1100" dirty="0"/>
          </a:p>
        </p:txBody>
      </p:sp>
      <p:sp>
        <p:nvSpPr>
          <p:cNvPr id="17" name="Text 15"/>
          <p:cNvSpPr/>
          <p:nvPr/>
        </p:nvSpPr>
        <p:spPr>
          <a:xfrm>
            <a:off x="6126480" y="160020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Verifies form fields and length bounds.</a:t>
            </a:r>
            <a:endParaRPr lang="en-US" sz="950" dirty="0"/>
          </a:p>
        </p:txBody>
      </p:sp>
      <p:sp>
        <p:nvSpPr>
          <p:cNvPr id="18" name="Shape 16"/>
          <p:cNvSpPr/>
          <p:nvPr/>
        </p:nvSpPr>
        <p:spPr>
          <a:xfrm>
            <a:off x="548640" y="2377440"/>
            <a:ext cx="2560320" cy="822960"/>
          </a:xfrm>
          <a:prstGeom prst="roundRect">
            <a:avLst>
              <a:gd name="adj" fmla="val 5556"/>
            </a:avLst>
          </a:prstGeom>
          <a:solidFill>
            <a:srgbClr val="FFF7ED"/>
          </a:solidFill>
          <a:ln w="12700">
            <a:solidFill>
              <a:srgbClr val="EA580C"/>
            </a:solidFill>
            <a:prstDash val="solid"/>
          </a:ln>
        </p:spPr>
      </p:sp>
      <p:sp>
        <p:nvSpPr>
          <p:cNvPr id="19" name="Text 17"/>
          <p:cNvSpPr/>
          <p:nvPr/>
        </p:nvSpPr>
        <p:spPr>
          <a:xfrm>
            <a:off x="640080" y="2423160"/>
            <a:ext cx="365760" cy="228600"/>
          </a:xfrm>
          <a:prstGeom prst="rect">
            <a:avLst/>
          </a:prstGeom>
          <a:noFill/>
          <a:ln/>
        </p:spPr>
        <p:txBody>
          <a:bodyPr wrap="square" rtlCol="0" anchor="ctr">
            <a:normAutofit/>
          </a:bodyPr>
          <a:lstStyle/>
          <a:p>
            <a:pPr indent="0" marL="0">
              <a:buNone/>
            </a:pPr>
            <a:r>
              <a:rPr lang="en-US" sz="1200" b="1" dirty="0">
                <a:solidFill>
                  <a:srgbClr val="EA580C"/>
                </a:solidFill>
                <a:latin typeface="Segoe UI" pitchFamily="34" charset="0"/>
                <a:ea typeface="Segoe UI" pitchFamily="34" charset="-122"/>
                <a:cs typeface="Segoe UI" pitchFamily="34" charset="-120"/>
              </a:rPr>
              <a:t>04</a:t>
            </a:r>
            <a:endParaRPr lang="en-US" sz="1200" dirty="0"/>
          </a:p>
        </p:txBody>
      </p:sp>
      <p:sp>
        <p:nvSpPr>
          <p:cNvPr id="20" name="Text 18"/>
          <p:cNvSpPr/>
          <p:nvPr/>
        </p:nvSpPr>
        <p:spPr>
          <a:xfrm>
            <a:off x="1005840" y="242316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Express API</a:t>
            </a:r>
            <a:endParaRPr lang="en-US" sz="1100" dirty="0"/>
          </a:p>
        </p:txBody>
      </p:sp>
      <p:sp>
        <p:nvSpPr>
          <p:cNvPr id="21" name="Text 19"/>
          <p:cNvSpPr/>
          <p:nvPr/>
        </p:nvSpPr>
        <p:spPr>
          <a:xfrm>
            <a:off x="640080" y="269748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Receives parameters and processes routes.</a:t>
            </a:r>
            <a:endParaRPr lang="en-US" sz="950" dirty="0"/>
          </a:p>
        </p:txBody>
      </p:sp>
      <p:sp>
        <p:nvSpPr>
          <p:cNvPr id="22" name="Shape 20"/>
          <p:cNvSpPr/>
          <p:nvPr/>
        </p:nvSpPr>
        <p:spPr>
          <a:xfrm>
            <a:off x="3291840" y="2377440"/>
            <a:ext cx="2560320" cy="822960"/>
          </a:xfrm>
          <a:prstGeom prst="roundRect">
            <a:avLst>
              <a:gd name="adj" fmla="val 5556"/>
            </a:avLst>
          </a:prstGeom>
          <a:solidFill>
            <a:srgbClr val="F0FDF4"/>
          </a:solidFill>
          <a:ln w="12700">
            <a:solidFill>
              <a:srgbClr val="16A34A"/>
            </a:solidFill>
            <a:prstDash val="solid"/>
          </a:ln>
        </p:spPr>
      </p:sp>
      <p:sp>
        <p:nvSpPr>
          <p:cNvPr id="23" name="Text 21"/>
          <p:cNvSpPr/>
          <p:nvPr/>
        </p:nvSpPr>
        <p:spPr>
          <a:xfrm>
            <a:off x="3383280" y="2423160"/>
            <a:ext cx="365760" cy="228600"/>
          </a:xfrm>
          <a:prstGeom prst="rect">
            <a:avLst/>
          </a:prstGeom>
          <a:noFill/>
          <a:ln/>
        </p:spPr>
        <p:txBody>
          <a:bodyPr wrap="square" rtlCol="0" anchor="ctr">
            <a:normAutofit/>
          </a:bodyPr>
          <a:lstStyle/>
          <a:p>
            <a:pPr indent="0" marL="0">
              <a:buNone/>
            </a:pPr>
            <a:r>
              <a:rPr lang="en-US" sz="1200" b="1" dirty="0">
                <a:solidFill>
                  <a:srgbClr val="16A34A"/>
                </a:solidFill>
                <a:latin typeface="Segoe UI" pitchFamily="34" charset="0"/>
                <a:ea typeface="Segoe UI" pitchFamily="34" charset="-122"/>
                <a:cs typeface="Segoe UI" pitchFamily="34" charset="-120"/>
              </a:rPr>
              <a:t>05</a:t>
            </a:r>
            <a:endParaRPr lang="en-US" sz="1200" dirty="0"/>
          </a:p>
        </p:txBody>
      </p:sp>
      <p:sp>
        <p:nvSpPr>
          <p:cNvPr id="24" name="Text 22"/>
          <p:cNvSpPr/>
          <p:nvPr/>
        </p:nvSpPr>
        <p:spPr>
          <a:xfrm>
            <a:off x="3749040" y="242316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DB Read/Write</a:t>
            </a:r>
            <a:endParaRPr lang="en-US" sz="1100" dirty="0"/>
          </a:p>
        </p:txBody>
      </p:sp>
      <p:sp>
        <p:nvSpPr>
          <p:cNvPr id="25" name="Text 23"/>
          <p:cNvSpPr/>
          <p:nvPr/>
        </p:nvSpPr>
        <p:spPr>
          <a:xfrm>
            <a:off x="3383280" y="269748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Performs fs actions to update db.json file.</a:t>
            </a:r>
            <a:endParaRPr lang="en-US" sz="950" dirty="0"/>
          </a:p>
        </p:txBody>
      </p:sp>
      <p:sp>
        <p:nvSpPr>
          <p:cNvPr id="26" name="Shape 24"/>
          <p:cNvSpPr/>
          <p:nvPr/>
        </p:nvSpPr>
        <p:spPr>
          <a:xfrm>
            <a:off x="6035040" y="2377440"/>
            <a:ext cx="2560320" cy="822960"/>
          </a:xfrm>
          <a:prstGeom prst="roundRect">
            <a:avLst>
              <a:gd name="adj" fmla="val 5556"/>
            </a:avLst>
          </a:prstGeom>
          <a:solidFill>
            <a:srgbClr val="FFF7ED"/>
          </a:solidFill>
          <a:ln w="12700">
            <a:solidFill>
              <a:srgbClr val="EA580C"/>
            </a:solidFill>
            <a:prstDash val="solid"/>
          </a:ln>
        </p:spPr>
      </p:sp>
      <p:sp>
        <p:nvSpPr>
          <p:cNvPr id="27" name="Text 25"/>
          <p:cNvSpPr/>
          <p:nvPr/>
        </p:nvSpPr>
        <p:spPr>
          <a:xfrm>
            <a:off x="6126480" y="2423160"/>
            <a:ext cx="365760" cy="228600"/>
          </a:xfrm>
          <a:prstGeom prst="rect">
            <a:avLst/>
          </a:prstGeom>
          <a:noFill/>
          <a:ln/>
        </p:spPr>
        <p:txBody>
          <a:bodyPr wrap="square" rtlCol="0" anchor="ctr">
            <a:normAutofit/>
          </a:bodyPr>
          <a:lstStyle/>
          <a:p>
            <a:pPr indent="0" marL="0">
              <a:buNone/>
            </a:pPr>
            <a:r>
              <a:rPr lang="en-US" sz="1200" b="1" dirty="0">
                <a:solidFill>
                  <a:srgbClr val="EA580C"/>
                </a:solidFill>
                <a:latin typeface="Segoe UI" pitchFamily="34" charset="0"/>
                <a:ea typeface="Segoe UI" pitchFamily="34" charset="-122"/>
                <a:cs typeface="Segoe UI" pitchFamily="34" charset="-120"/>
              </a:rPr>
              <a:t>06</a:t>
            </a:r>
            <a:endParaRPr lang="en-US" sz="1200" dirty="0"/>
          </a:p>
        </p:txBody>
      </p:sp>
      <p:sp>
        <p:nvSpPr>
          <p:cNvPr id="28" name="Text 26"/>
          <p:cNvSpPr/>
          <p:nvPr/>
        </p:nvSpPr>
        <p:spPr>
          <a:xfrm>
            <a:off x="6492240" y="242316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Generate Content</a:t>
            </a:r>
            <a:endParaRPr lang="en-US" sz="1100" dirty="0"/>
          </a:p>
        </p:txBody>
      </p:sp>
      <p:sp>
        <p:nvSpPr>
          <p:cNvPr id="29" name="Text 27"/>
          <p:cNvSpPr/>
          <p:nvPr/>
        </p:nvSpPr>
        <p:spPr>
          <a:xfrm>
            <a:off x="6126480" y="269748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Compiles headlines, copy, and CTAs.</a:t>
            </a:r>
            <a:endParaRPr lang="en-US" sz="950" dirty="0"/>
          </a:p>
        </p:txBody>
      </p:sp>
      <p:sp>
        <p:nvSpPr>
          <p:cNvPr id="30" name="Shape 28"/>
          <p:cNvSpPr/>
          <p:nvPr/>
        </p:nvSpPr>
        <p:spPr>
          <a:xfrm>
            <a:off x="548640" y="3474720"/>
            <a:ext cx="2560320" cy="822960"/>
          </a:xfrm>
          <a:prstGeom prst="roundRect">
            <a:avLst>
              <a:gd name="adj" fmla="val 5556"/>
            </a:avLst>
          </a:prstGeom>
          <a:solidFill>
            <a:srgbClr val="F0FDF4"/>
          </a:solidFill>
          <a:ln w="12700">
            <a:solidFill>
              <a:srgbClr val="16A34A"/>
            </a:solidFill>
            <a:prstDash val="solid"/>
          </a:ln>
        </p:spPr>
      </p:sp>
      <p:sp>
        <p:nvSpPr>
          <p:cNvPr id="31" name="Text 29"/>
          <p:cNvSpPr/>
          <p:nvPr/>
        </p:nvSpPr>
        <p:spPr>
          <a:xfrm>
            <a:off x="640080" y="3520440"/>
            <a:ext cx="365760" cy="228600"/>
          </a:xfrm>
          <a:prstGeom prst="rect">
            <a:avLst/>
          </a:prstGeom>
          <a:noFill/>
          <a:ln/>
        </p:spPr>
        <p:txBody>
          <a:bodyPr wrap="square" rtlCol="0" anchor="ctr">
            <a:normAutofit/>
          </a:bodyPr>
          <a:lstStyle/>
          <a:p>
            <a:pPr indent="0" marL="0">
              <a:buNone/>
            </a:pPr>
            <a:r>
              <a:rPr lang="en-US" sz="1200" b="1" dirty="0">
                <a:solidFill>
                  <a:srgbClr val="16A34A"/>
                </a:solidFill>
                <a:latin typeface="Segoe UI" pitchFamily="34" charset="0"/>
                <a:ea typeface="Segoe UI" pitchFamily="34" charset="-122"/>
                <a:cs typeface="Segoe UI" pitchFamily="34" charset="-120"/>
              </a:rPr>
              <a:t>07</a:t>
            </a:r>
            <a:endParaRPr lang="en-US" sz="1200" dirty="0"/>
          </a:p>
        </p:txBody>
      </p:sp>
      <p:sp>
        <p:nvSpPr>
          <p:cNvPr id="32" name="Text 30"/>
          <p:cNvSpPr/>
          <p:nvPr/>
        </p:nvSpPr>
        <p:spPr>
          <a:xfrm>
            <a:off x="1005840" y="352044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Store History</a:t>
            </a:r>
            <a:endParaRPr lang="en-US" sz="1100" dirty="0"/>
          </a:p>
        </p:txBody>
      </p:sp>
      <p:sp>
        <p:nvSpPr>
          <p:cNvPr id="33" name="Text 31"/>
          <p:cNvSpPr/>
          <p:nvPr/>
        </p:nvSpPr>
        <p:spPr>
          <a:xfrm>
            <a:off x="640080" y="379476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Saves new document in database list.</a:t>
            </a:r>
            <a:endParaRPr lang="en-US" sz="950" dirty="0"/>
          </a:p>
        </p:txBody>
      </p:sp>
      <p:sp>
        <p:nvSpPr>
          <p:cNvPr id="34" name="Shape 32"/>
          <p:cNvSpPr/>
          <p:nvPr/>
        </p:nvSpPr>
        <p:spPr>
          <a:xfrm>
            <a:off x="3291840" y="3474720"/>
            <a:ext cx="2560320" cy="822960"/>
          </a:xfrm>
          <a:prstGeom prst="roundRect">
            <a:avLst>
              <a:gd name="adj" fmla="val 5556"/>
            </a:avLst>
          </a:prstGeom>
          <a:solidFill>
            <a:srgbClr val="F8FAFC"/>
          </a:solidFill>
          <a:ln w="12700">
            <a:solidFill>
              <a:srgbClr val="3B82F6"/>
            </a:solidFill>
            <a:prstDash val="solid"/>
          </a:ln>
        </p:spPr>
      </p:sp>
      <p:sp>
        <p:nvSpPr>
          <p:cNvPr id="35" name="Text 33"/>
          <p:cNvSpPr/>
          <p:nvPr/>
        </p:nvSpPr>
        <p:spPr>
          <a:xfrm>
            <a:off x="3383280" y="3520440"/>
            <a:ext cx="365760" cy="228600"/>
          </a:xfrm>
          <a:prstGeom prst="rect">
            <a:avLst/>
          </a:prstGeom>
          <a:noFill/>
          <a:ln/>
        </p:spPr>
        <p:txBody>
          <a:bodyPr wrap="square" rtlCol="0" anchor="ctr">
            <a:normAutofit/>
          </a:bodyPr>
          <a:lstStyle/>
          <a:p>
            <a:pPr indent="0" marL="0">
              <a:buNone/>
            </a:pPr>
            <a:r>
              <a:rPr lang="en-US" sz="1200" b="1" dirty="0">
                <a:solidFill>
                  <a:srgbClr val="3B82F6"/>
                </a:solidFill>
                <a:latin typeface="Segoe UI" pitchFamily="34" charset="0"/>
                <a:ea typeface="Segoe UI" pitchFamily="34" charset="-122"/>
                <a:cs typeface="Segoe UI" pitchFamily="34" charset="-120"/>
              </a:rPr>
              <a:t>08</a:t>
            </a:r>
            <a:endParaRPr lang="en-US" sz="1200" dirty="0"/>
          </a:p>
        </p:txBody>
      </p:sp>
      <p:sp>
        <p:nvSpPr>
          <p:cNvPr id="36" name="Text 34"/>
          <p:cNvSpPr/>
          <p:nvPr/>
        </p:nvSpPr>
        <p:spPr>
          <a:xfrm>
            <a:off x="3749040" y="352044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Platform Preview</a:t>
            </a:r>
            <a:endParaRPr lang="en-US" sz="1100" dirty="0"/>
          </a:p>
        </p:txBody>
      </p:sp>
      <p:sp>
        <p:nvSpPr>
          <p:cNvPr id="37" name="Text 35"/>
          <p:cNvSpPr/>
          <p:nvPr/>
        </p:nvSpPr>
        <p:spPr>
          <a:xfrm>
            <a:off x="3383280" y="379476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Updates active social feed mockup frames.</a:t>
            </a:r>
            <a:endParaRPr lang="en-US" sz="950" dirty="0"/>
          </a:p>
        </p:txBody>
      </p:sp>
      <p:sp>
        <p:nvSpPr>
          <p:cNvPr id="38" name="Shape 36"/>
          <p:cNvSpPr/>
          <p:nvPr/>
        </p:nvSpPr>
        <p:spPr>
          <a:xfrm>
            <a:off x="6035040" y="3474720"/>
            <a:ext cx="2560320" cy="822960"/>
          </a:xfrm>
          <a:prstGeom prst="roundRect">
            <a:avLst>
              <a:gd name="adj" fmla="val 5556"/>
            </a:avLst>
          </a:prstGeom>
          <a:solidFill>
            <a:srgbClr val="F8FAFC"/>
          </a:solidFill>
          <a:ln w="12700">
            <a:solidFill>
              <a:srgbClr val="3B82F6"/>
            </a:solidFill>
            <a:prstDash val="solid"/>
          </a:ln>
        </p:spPr>
      </p:sp>
      <p:sp>
        <p:nvSpPr>
          <p:cNvPr id="39" name="Text 37"/>
          <p:cNvSpPr/>
          <p:nvPr/>
        </p:nvSpPr>
        <p:spPr>
          <a:xfrm>
            <a:off x="6126480" y="3520440"/>
            <a:ext cx="365760" cy="228600"/>
          </a:xfrm>
          <a:prstGeom prst="rect">
            <a:avLst/>
          </a:prstGeom>
          <a:noFill/>
          <a:ln/>
        </p:spPr>
        <p:txBody>
          <a:bodyPr wrap="square" rtlCol="0" anchor="ctr">
            <a:normAutofit/>
          </a:bodyPr>
          <a:lstStyle/>
          <a:p>
            <a:pPr indent="0" marL="0">
              <a:buNone/>
            </a:pPr>
            <a:r>
              <a:rPr lang="en-US" sz="1200" b="1" dirty="0">
                <a:solidFill>
                  <a:srgbClr val="3B82F6"/>
                </a:solidFill>
                <a:latin typeface="Segoe UI" pitchFamily="34" charset="0"/>
                <a:ea typeface="Segoe UI" pitchFamily="34" charset="-122"/>
                <a:cs typeface="Segoe UI" pitchFamily="34" charset="-120"/>
              </a:rPr>
              <a:t>09</a:t>
            </a:r>
            <a:endParaRPr lang="en-US" sz="1200" dirty="0"/>
          </a:p>
        </p:txBody>
      </p:sp>
      <p:sp>
        <p:nvSpPr>
          <p:cNvPr id="40" name="Text 38"/>
          <p:cNvSpPr/>
          <p:nvPr/>
        </p:nvSpPr>
        <p:spPr>
          <a:xfrm>
            <a:off x="6492240" y="3520440"/>
            <a:ext cx="2011680" cy="228600"/>
          </a:xfrm>
          <a:prstGeom prst="rect">
            <a:avLst/>
          </a:prstGeom>
          <a:noFill/>
          <a:ln/>
        </p:spPr>
        <p:txBody>
          <a:bodyPr wrap="square" rtlCol="0" anchor="ctr">
            <a:normAutofit/>
          </a:bodyPr>
          <a:lstStyle/>
          <a:p>
            <a:pPr indent="0" marL="0">
              <a:buNone/>
            </a:pPr>
            <a:r>
              <a:rPr lang="en-US" sz="1100" b="1" dirty="0">
                <a:solidFill>
                  <a:srgbClr val="1E293B"/>
                </a:solidFill>
                <a:latin typeface="Segoe UI" pitchFamily="34" charset="0"/>
                <a:ea typeface="Segoe UI" pitchFamily="34" charset="-122"/>
                <a:cs typeface="Segoe UI" pitchFamily="34" charset="-120"/>
              </a:rPr>
              <a:t>Export/Download</a:t>
            </a:r>
            <a:endParaRPr lang="en-US" sz="1100" dirty="0"/>
          </a:p>
        </p:txBody>
      </p:sp>
      <p:sp>
        <p:nvSpPr>
          <p:cNvPr id="41" name="Text 39"/>
          <p:cNvSpPr/>
          <p:nvPr/>
        </p:nvSpPr>
        <p:spPr>
          <a:xfrm>
            <a:off x="6126480" y="3794760"/>
            <a:ext cx="2377440" cy="457200"/>
          </a:xfrm>
          <a:prstGeom prst="rect">
            <a:avLst/>
          </a:prstGeom>
          <a:noFill/>
          <a:ln/>
        </p:spPr>
        <p:txBody>
          <a:bodyPr wrap="square" rtlCol="0" anchor="ctr">
            <a:normAutofit/>
          </a:bodyPr>
          <a:lstStyle/>
          <a:p>
            <a:pPr indent="0" marL="0">
              <a:buNone/>
            </a:pPr>
            <a:r>
              <a:rPr lang="en-US" sz="950" dirty="0">
                <a:solidFill>
                  <a:srgbClr val="475569"/>
                </a:solidFill>
                <a:latin typeface="Arial" pitchFamily="34" charset="0"/>
                <a:ea typeface="Arial" pitchFamily="34" charset="-122"/>
                <a:cs typeface="Arial" pitchFamily="34" charset="-120"/>
              </a:rPr>
              <a:t>Allows client PDF briefs and PNG mockup downloads.</a:t>
            </a:r>
            <a:endParaRPr lang="en-US" sz="950" dirty="0"/>
          </a:p>
        </p:txBody>
      </p:sp>
      <p:sp>
        <p:nvSpPr>
          <p:cNvPr id="42" name="Shape 40"/>
          <p:cNvSpPr/>
          <p:nvPr/>
        </p:nvSpPr>
        <p:spPr>
          <a:xfrm>
            <a:off x="3154680" y="1600200"/>
            <a:ext cx="109728" cy="137160"/>
          </a:xfrm>
          <a:prstGeom prst="rightArrow">
            <a:avLst/>
          </a:prstGeom>
          <a:solidFill>
            <a:srgbClr val="CBD5E1"/>
          </a:solidFill>
          <a:ln/>
        </p:spPr>
      </p:sp>
      <p:sp>
        <p:nvSpPr>
          <p:cNvPr id="43" name="Shape 41"/>
          <p:cNvSpPr/>
          <p:nvPr/>
        </p:nvSpPr>
        <p:spPr>
          <a:xfrm>
            <a:off x="5897880" y="1600200"/>
            <a:ext cx="109728" cy="137160"/>
          </a:xfrm>
          <a:prstGeom prst="rightArrow">
            <a:avLst/>
          </a:prstGeom>
          <a:solidFill>
            <a:srgbClr val="CBD5E1"/>
          </a:solidFill>
          <a:ln/>
        </p:spPr>
      </p:sp>
      <p:sp>
        <p:nvSpPr>
          <p:cNvPr id="44" name="Shape 42"/>
          <p:cNvSpPr/>
          <p:nvPr/>
        </p:nvSpPr>
        <p:spPr>
          <a:xfrm>
            <a:off x="3154680" y="2697480"/>
            <a:ext cx="109728" cy="137160"/>
          </a:xfrm>
          <a:prstGeom prst="rightArrow">
            <a:avLst/>
          </a:prstGeom>
          <a:solidFill>
            <a:srgbClr val="CBD5E1"/>
          </a:solidFill>
          <a:ln/>
        </p:spPr>
      </p:sp>
      <p:sp>
        <p:nvSpPr>
          <p:cNvPr id="45" name="Shape 43"/>
          <p:cNvSpPr/>
          <p:nvPr/>
        </p:nvSpPr>
        <p:spPr>
          <a:xfrm>
            <a:off x="5897880" y="2697480"/>
            <a:ext cx="109728" cy="137160"/>
          </a:xfrm>
          <a:prstGeom prst="rightArrow">
            <a:avLst/>
          </a:prstGeom>
          <a:solidFill>
            <a:srgbClr val="CBD5E1"/>
          </a:solidFill>
          <a:ln/>
        </p:spPr>
      </p:sp>
      <p:sp>
        <p:nvSpPr>
          <p:cNvPr id="46" name="Shape 44"/>
          <p:cNvSpPr/>
          <p:nvPr/>
        </p:nvSpPr>
        <p:spPr>
          <a:xfrm>
            <a:off x="3154680" y="3794760"/>
            <a:ext cx="109728" cy="137160"/>
          </a:xfrm>
          <a:prstGeom prst="rightArrow">
            <a:avLst/>
          </a:prstGeom>
          <a:solidFill>
            <a:srgbClr val="CBD5E1"/>
          </a:solidFill>
          <a:ln/>
        </p:spPr>
      </p:sp>
      <p:sp>
        <p:nvSpPr>
          <p:cNvPr id="47" name="Shape 45"/>
          <p:cNvSpPr/>
          <p:nvPr/>
        </p:nvSpPr>
        <p:spPr>
          <a:xfrm>
            <a:off x="5897880" y="3794760"/>
            <a:ext cx="109728" cy="137160"/>
          </a:xfrm>
          <a:prstGeom prst="rightArrow">
            <a:avLst/>
          </a:prstGeom>
          <a:solidFill>
            <a:srgbClr val="CBD5E1"/>
          </a:solidFill>
          <a:ln/>
        </p:spPr>
      </p:sp>
      <p:sp>
        <p:nvSpPr>
          <p:cNvPr id="48" name="Text 46"/>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49" name="Text 47"/>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Database Design &amp; Schema</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Structured JSON document design representing generated ad campaigns</a:t>
            </a:r>
            <a:endParaRPr lang="en-US" sz="1200" dirty="0"/>
          </a:p>
        </p:txBody>
      </p:sp>
      <p:sp>
        <p:nvSpPr>
          <p:cNvPr id="6" name="Shape 4"/>
          <p:cNvSpPr/>
          <p:nvPr/>
        </p:nvSpPr>
        <p:spPr>
          <a:xfrm>
            <a:off x="548640" y="1280160"/>
            <a:ext cx="3657600" cy="3200400"/>
          </a:xfrm>
          <a:prstGeom prst="roundRect">
            <a:avLst>
              <a:gd name="adj" fmla="val 1429"/>
            </a:avLst>
          </a:prstGeom>
          <a:solidFill>
            <a:srgbClr val="1E293B"/>
          </a:solidFill>
          <a:ln w="19050">
            <a:solidFill>
              <a:srgbClr val="CBD5E1"/>
            </a:solidFill>
            <a:prstDash val="solid"/>
          </a:ln>
        </p:spPr>
      </p:sp>
      <p:sp>
        <p:nvSpPr>
          <p:cNvPr id="7" name="Text 5"/>
          <p:cNvSpPr/>
          <p:nvPr/>
        </p:nvSpPr>
        <p:spPr>
          <a:xfrm>
            <a:off x="640080" y="1371600"/>
            <a:ext cx="3474720" cy="3017520"/>
          </a:xfrm>
          <a:prstGeom prst="rect">
            <a:avLst/>
          </a:prstGeom>
          <a:noFill/>
          <a:ln/>
        </p:spPr>
        <p:txBody>
          <a:bodyPr wrap="square" rtlCol="0" anchor="ctr">
            <a:normAutofit/>
          </a:bodyPr>
          <a:lstStyle/>
          <a:p>
            <a:pPr indent="0" marL="0">
              <a:buNone/>
            </a:pPr>
            <a:r>
              <a:rPr lang="en-US" sz="950" dirty="0">
                <a:solidFill>
                  <a:srgbClr val="FFFFFF"/>
                </a:solidFill>
                <a:latin typeface="Courier New" pitchFamily="34" charset="0"/>
                <a:ea typeface="Courier New" pitchFamily="34" charset="-122"/>
                <a:cs typeface="Courier New" pitchFamily="34" charset="-120"/>
              </a:rPr>
              <a:t>{
</a:t>
            </a:r>
            <a:pPr indent="0" marL="0">
              <a:buNone/>
            </a:pPr>
            <a:r>
              <a:rPr lang="en-US" sz="950" dirty="0">
                <a:solidFill>
                  <a:srgbClr val="A5B4FC"/>
                </a:solidFill>
                <a:latin typeface="Courier New" pitchFamily="34" charset="0"/>
                <a:ea typeface="Courier New" pitchFamily="34" charset="-122"/>
                <a:cs typeface="Courier New" pitchFamily="34" charset="-120"/>
              </a:rPr>
              <a:t>  "businessName": </a:t>
            </a:r>
            <a:pPr indent="0" marL="0">
              <a:buNone/>
            </a:pPr>
            <a:r>
              <a:rPr lang="en-US" sz="950" dirty="0">
                <a:solidFill>
                  <a:srgbClr val="FDBA74"/>
                </a:solidFill>
                <a:latin typeface="Courier New" pitchFamily="34" charset="0"/>
                <a:ea typeface="Courier New" pitchFamily="34" charset="-122"/>
                <a:cs typeface="Courier New" pitchFamily="34" charset="-120"/>
              </a:rPr>
              <a:t>"Zudio Store",
</a:t>
            </a:r>
            <a:pPr indent="0" marL="0">
              <a:buNone/>
            </a:pPr>
            <a:r>
              <a:rPr lang="en-US" sz="950" dirty="0">
                <a:solidFill>
                  <a:srgbClr val="A5B4FC"/>
                </a:solidFill>
                <a:latin typeface="Courier New" pitchFamily="34" charset="0"/>
                <a:ea typeface="Courier New" pitchFamily="34" charset="-122"/>
                <a:cs typeface="Courier New" pitchFamily="34" charset="-120"/>
              </a:rPr>
              <a:t>  "product": </a:t>
            </a:r>
            <a:pPr indent="0" marL="0">
              <a:buNone/>
            </a:pPr>
            <a:r>
              <a:rPr lang="en-US" sz="950" dirty="0">
                <a:solidFill>
                  <a:srgbClr val="FDBA74"/>
                </a:solidFill>
                <a:latin typeface="Courier New" pitchFamily="34" charset="0"/>
                <a:ea typeface="Courier New" pitchFamily="34" charset="-122"/>
                <a:cs typeface="Courier New" pitchFamily="34" charset="-120"/>
              </a:rPr>
              <a:t>"Casual Wear",
</a:t>
            </a:r>
            <a:pPr indent="0" marL="0">
              <a:buNone/>
            </a:pPr>
            <a:r>
              <a:rPr lang="en-US" sz="950" dirty="0">
                <a:solidFill>
                  <a:srgbClr val="A5B4FC"/>
                </a:solidFill>
                <a:latin typeface="Courier New" pitchFamily="34" charset="0"/>
                <a:ea typeface="Courier New" pitchFamily="34" charset="-122"/>
                <a:cs typeface="Courier New" pitchFamily="34" charset="-120"/>
              </a:rPr>
              <a:t>  "audience": </a:t>
            </a:r>
            <a:pPr indent="0" marL="0">
              <a:buNone/>
            </a:pPr>
            <a:r>
              <a:rPr lang="en-US" sz="950" dirty="0">
                <a:solidFill>
                  <a:srgbClr val="FDBA74"/>
                </a:solidFill>
                <a:latin typeface="Courier New" pitchFamily="34" charset="0"/>
                <a:ea typeface="Courier New" pitchFamily="34" charset="-122"/>
                <a:cs typeface="Courier New" pitchFamily="34" charset="-120"/>
              </a:rPr>
              <a:t>"College Students",
</a:t>
            </a:r>
            <a:pPr indent="0" marL="0">
              <a:buNone/>
            </a:pPr>
            <a:r>
              <a:rPr lang="en-US" sz="950" dirty="0">
                <a:solidFill>
                  <a:srgbClr val="A5B4FC"/>
                </a:solidFill>
                <a:latin typeface="Courier New" pitchFamily="34" charset="0"/>
                <a:ea typeface="Courier New" pitchFamily="34" charset="-122"/>
                <a:cs typeface="Courier New" pitchFamily="34" charset="-120"/>
              </a:rPr>
              <a:t>  "goal": </a:t>
            </a:r>
            <a:pPr indent="0" marL="0">
              <a:buNone/>
            </a:pPr>
            <a:r>
              <a:rPr lang="en-US" sz="950" dirty="0">
                <a:solidFill>
                  <a:srgbClr val="FDBA74"/>
                </a:solidFill>
                <a:latin typeface="Courier New" pitchFamily="34" charset="0"/>
                <a:ea typeface="Courier New" pitchFamily="34" charset="-122"/>
                <a:cs typeface="Courier New" pitchFamily="34" charset="-120"/>
              </a:rPr>
              <a:t>"Brand Awareness",
</a:t>
            </a:r>
            <a:pPr indent="0" marL="0">
              <a:buNone/>
            </a:pPr>
            <a:r>
              <a:rPr lang="en-US" sz="950" dirty="0">
                <a:solidFill>
                  <a:srgbClr val="A5B4FC"/>
                </a:solidFill>
                <a:latin typeface="Courier New" pitchFamily="34" charset="0"/>
                <a:ea typeface="Courier New" pitchFamily="34" charset="-122"/>
                <a:cs typeface="Courier New" pitchFamily="34" charset="-120"/>
              </a:rPr>
              <a:t>  "platform": </a:t>
            </a:r>
            <a:pPr indent="0" marL="0">
              <a:buNone/>
            </a:pPr>
            <a:r>
              <a:rPr lang="en-US" sz="950" dirty="0">
                <a:solidFill>
                  <a:srgbClr val="FDBA74"/>
                </a:solidFill>
                <a:latin typeface="Courier New" pitchFamily="34" charset="0"/>
                <a:ea typeface="Courier New" pitchFamily="34" charset="-122"/>
                <a:cs typeface="Courier New" pitchFamily="34" charset="-120"/>
              </a:rPr>
              <a:t>"Instagram",
</a:t>
            </a:r>
            <a:pPr indent="0" marL="0">
              <a:buNone/>
            </a:pPr>
            <a:r>
              <a:rPr lang="en-US" sz="950" dirty="0">
                <a:solidFill>
                  <a:srgbClr val="A5B4FC"/>
                </a:solidFill>
                <a:latin typeface="Courier New" pitchFamily="34" charset="0"/>
                <a:ea typeface="Courier New" pitchFamily="34" charset="-122"/>
                <a:cs typeface="Courier New" pitchFamily="34" charset="-120"/>
              </a:rPr>
              <a:t>  "tone": </a:t>
            </a:r>
            <a:pPr indent="0" marL="0">
              <a:buNone/>
            </a:pPr>
            <a:r>
              <a:rPr lang="en-US" sz="950" dirty="0">
                <a:solidFill>
                  <a:srgbClr val="FDBA74"/>
                </a:solidFill>
                <a:latin typeface="Courier New" pitchFamily="34" charset="0"/>
                <a:ea typeface="Courier New" pitchFamily="34" charset="-122"/>
                <a:cs typeface="Courier New" pitchFamily="34" charset="-120"/>
              </a:rPr>
              <a:t>"Promotional",
</a:t>
            </a:r>
            <a:pPr indent="0" marL="0">
              <a:buNone/>
            </a:pPr>
            <a:r>
              <a:rPr lang="en-US" sz="950" dirty="0">
                <a:solidFill>
                  <a:srgbClr val="A5B4FC"/>
                </a:solidFill>
                <a:latin typeface="Courier New" pitchFamily="34" charset="0"/>
                <a:ea typeface="Courier New" pitchFamily="34" charset="-122"/>
                <a:cs typeface="Courier New" pitchFamily="34" charset="-120"/>
              </a:rPr>
              <a:t>  "headline": </a:t>
            </a:r>
            <a:pPr indent="0" marL="0">
              <a:buNone/>
            </a:pPr>
            <a:r>
              <a:rPr lang="en-US" sz="950" dirty="0">
                <a:solidFill>
                  <a:srgbClr val="FDBA74"/>
                </a:solidFill>
                <a:latin typeface="Courier New" pitchFamily="34" charset="0"/>
                <a:ea typeface="Courier New" pitchFamily="34" charset="-122"/>
                <a:cs typeface="Courier New" pitchFamily="34" charset="-120"/>
              </a:rPr>
              <a:t>"Fresh Style, Bold Looks",
</a:t>
            </a:r>
            <a:pPr indent="0" marL="0">
              <a:buNone/>
            </a:pPr>
            <a:r>
              <a:rPr lang="en-US" sz="950" dirty="0">
                <a:solidFill>
                  <a:srgbClr val="A5B4FC"/>
                </a:solidFill>
                <a:latin typeface="Courier New" pitchFamily="34" charset="0"/>
                <a:ea typeface="Courier New" pitchFamily="34" charset="-122"/>
                <a:cs typeface="Courier New" pitchFamily="34" charset="-120"/>
              </a:rPr>
              <a:t>  "description": </a:t>
            </a:r>
            <a:pPr indent="0" marL="0">
              <a:buNone/>
            </a:pPr>
            <a:r>
              <a:rPr lang="en-US" sz="950" dirty="0">
                <a:solidFill>
                  <a:srgbClr val="FDBA74"/>
                </a:solidFill>
                <a:latin typeface="Courier New" pitchFamily="34" charset="0"/>
                <a:ea typeface="Courier New" pitchFamily="34" charset="-122"/>
                <a:cs typeface="Courier New" pitchFamily="34" charset="-120"/>
              </a:rPr>
              <a:t>"Upgrade your style...",
</a:t>
            </a:r>
            <a:pPr indent="0" marL="0">
              <a:buNone/>
            </a:pPr>
            <a:r>
              <a:rPr lang="en-US" sz="950" dirty="0">
                <a:solidFill>
                  <a:srgbClr val="A5B4FC"/>
                </a:solidFill>
                <a:latin typeface="Courier New" pitchFamily="34" charset="0"/>
                <a:ea typeface="Courier New" pitchFamily="34" charset="-122"/>
                <a:cs typeface="Courier New" pitchFamily="34" charset="-120"/>
              </a:rPr>
              <a:t>  "cta": </a:t>
            </a:r>
            <a:pPr indent="0" marL="0">
              <a:buNone/>
            </a:pPr>
            <a:r>
              <a:rPr lang="en-US" sz="950" dirty="0">
                <a:solidFill>
                  <a:srgbClr val="FDBA74"/>
                </a:solidFill>
                <a:latin typeface="Courier New" pitchFamily="34" charset="0"/>
                <a:ea typeface="Courier New" pitchFamily="34" charset="-122"/>
                <a:cs typeface="Courier New" pitchFamily="34" charset="-120"/>
              </a:rPr>
              <a:t>"Shop Now",
</a:t>
            </a:r>
            <a:pPr indent="0" marL="0">
              <a:buNone/>
            </a:pPr>
            <a:r>
              <a:rPr lang="en-US" sz="950" dirty="0">
                <a:solidFill>
                  <a:srgbClr val="A5B4FC"/>
                </a:solidFill>
                <a:latin typeface="Courier New" pitchFamily="34" charset="0"/>
                <a:ea typeface="Courier New" pitchFamily="34" charset="-122"/>
                <a:cs typeface="Courier New" pitchFamily="34" charset="-120"/>
              </a:rPr>
              <a:t>  "imageUrl": </a:t>
            </a:r>
            <a:pPr indent="0" marL="0">
              <a:buNone/>
            </a:pPr>
            <a:r>
              <a:rPr lang="en-US" sz="950" dirty="0">
                <a:solidFill>
                  <a:srgbClr val="FDBA74"/>
                </a:solidFill>
                <a:latin typeface="Courier New" pitchFamily="34" charset="0"/>
                <a:ea typeface="Courier New" pitchFamily="34" charset="-122"/>
                <a:cs typeface="Courier New" pitchFamily="34" charset="-120"/>
              </a:rPr>
              <a:t>"https://unsplash...",
</a:t>
            </a:r>
            <a:pPr indent="0" marL="0">
              <a:buNone/>
            </a:pPr>
            <a:r>
              <a:rPr lang="en-US" sz="950" dirty="0">
                <a:solidFill>
                  <a:srgbClr val="A5B4FC"/>
                </a:solidFill>
                <a:latin typeface="Courier New" pitchFamily="34" charset="0"/>
                <a:ea typeface="Courier New" pitchFamily="34" charset="-122"/>
                <a:cs typeface="Courier New" pitchFamily="34" charset="-120"/>
              </a:rPr>
              <a:t>  "timestamp": </a:t>
            </a:r>
            <a:pPr indent="0" marL="0">
              <a:buNone/>
            </a:pPr>
            <a:r>
              <a:rPr lang="en-US" sz="950" dirty="0">
                <a:solidFill>
                  <a:srgbClr val="FDBA74"/>
                </a:solidFill>
                <a:latin typeface="Courier New" pitchFamily="34" charset="0"/>
                <a:ea typeface="Courier New" pitchFamily="34" charset="-122"/>
                <a:cs typeface="Courier New" pitchFamily="34" charset="-120"/>
              </a:rPr>
              <a:t>"2026-06-10T11:05:00Z"
</a:t>
            </a:r>
            <a:pPr indent="0" marL="0">
              <a:buNone/>
            </a:pPr>
            <a:r>
              <a:rPr lang="en-US" sz="950" dirty="0">
                <a:solidFill>
                  <a:srgbClr val="FFFFFF"/>
                </a:solidFill>
                <a:latin typeface="Courier New" pitchFamily="34" charset="0"/>
                <a:ea typeface="Courier New" pitchFamily="34" charset="-122"/>
                <a:cs typeface="Courier New" pitchFamily="34" charset="-120"/>
              </a:rPr>
              <a:t>}</a:t>
            </a:r>
            <a:endParaRPr lang="en-US" sz="950" dirty="0"/>
          </a:p>
        </p:txBody>
      </p:sp>
      <p:sp>
        <p:nvSpPr>
          <p:cNvPr id="8" name="Text 6"/>
          <p:cNvSpPr/>
          <p:nvPr/>
        </p:nvSpPr>
        <p:spPr>
          <a:xfrm>
            <a:off x="4389120" y="1280160"/>
            <a:ext cx="4206240" cy="274320"/>
          </a:xfrm>
          <a:prstGeom prst="rect">
            <a:avLst/>
          </a:prstGeom>
          <a:noFill/>
          <a:ln/>
        </p:spPr>
        <p:txBody>
          <a:bodyPr wrap="square" rtlCol="0" anchor="ctr">
            <a:normAutofit/>
          </a:bodyPr>
          <a:lstStyle/>
          <a:p>
            <a:pPr indent="0" marL="0">
              <a:buNone/>
            </a:pPr>
            <a:r>
              <a:rPr lang="en-US" sz="1300" b="1" dirty="0">
                <a:solidFill>
                  <a:srgbClr val="1E3A8A"/>
                </a:solidFill>
                <a:latin typeface="Segoe UI" pitchFamily="34" charset="0"/>
                <a:ea typeface="Segoe UI" pitchFamily="34" charset="-122"/>
                <a:cs typeface="Segoe UI" pitchFamily="34" charset="-120"/>
              </a:rPr>
              <a:t>CAMPAIGN SCHEMA ATTRIBUTES</a:t>
            </a:r>
            <a:endParaRPr lang="en-US" sz="1300" dirty="0"/>
          </a:p>
        </p:txBody>
      </p:sp>
      <p:sp>
        <p:nvSpPr>
          <p:cNvPr id="9" name="Text 7"/>
          <p:cNvSpPr/>
          <p:nvPr/>
        </p:nvSpPr>
        <p:spPr>
          <a:xfrm>
            <a:off x="4389120" y="1645920"/>
            <a:ext cx="4206240" cy="2834640"/>
          </a:xfrm>
          <a:prstGeom prst="rect">
            <a:avLst/>
          </a:prstGeom>
          <a:noFill/>
          <a:ln/>
        </p:spPr>
        <p:txBody>
          <a:bodyPr wrap="square" rtlCol="0" anchor="ctr">
            <a:normAutofit/>
          </a:bodyPr>
          <a:lstStyle/>
          <a:p>
            <a:pPr indent="0" marL="0">
              <a:buNone/>
            </a:pPr>
            <a:r>
              <a:rPr lang="en-US" sz="1050" dirty="0">
                <a:solidFill>
                  <a:srgbClr val="1E293B"/>
                </a:solidFill>
                <a:latin typeface="Arial" pitchFamily="34" charset="0"/>
                <a:ea typeface="Arial" pitchFamily="34" charset="-122"/>
                <a:cs typeface="Arial" pitchFamily="34" charset="-120"/>
              </a:rPr>
              <a:t>• Campaign Context: Business Name, Product Name, Target Audience, and Goal determine core ad framing.</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Mockup Layout Keys: Headline, Description, and CTA text map directly to standard platform layout fields.</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Platform &amp; Tone Rules: Control character lengths, text formatting rules, and visual style.</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Asset &amp; Log Metadata: Stores Google Places/Unsplash Image URL references alongside creation Timestamps.</a:t>
            </a:r>
            <a:endParaRPr lang="en-US" sz="1050" dirty="0"/>
          </a:p>
          <a:p>
            <a:pPr indent="0" marL="0">
              <a:buNone/>
            </a:pPr>
            <a:endParaRPr lang="en-US" sz="1050" dirty="0"/>
          </a:p>
          <a:p>
            <a:pPr indent="0" marL="0">
              <a:buNone/>
            </a:pPr>
            <a:r>
              <a:rPr lang="en-US" sz="1050" dirty="0">
                <a:solidFill>
                  <a:srgbClr val="1E293B"/>
                </a:solidFill>
                <a:latin typeface="Arial" pitchFamily="34" charset="0"/>
                <a:ea typeface="Arial" pitchFamily="34" charset="-122"/>
                <a:cs typeface="Arial" pitchFamily="34" charset="-120"/>
              </a:rPr>
              <a:t>• Analytics Counters: Tracks simulated performance scores (Spend, CTR, Clicks) dynamically on publication.</a:t>
            </a:r>
            <a:endParaRPr lang="en-US" sz="1050" dirty="0"/>
          </a:p>
        </p:txBody>
      </p:sp>
      <p:sp>
        <p:nvSpPr>
          <p:cNvPr id="10" name="Text 8"/>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11" name="Text 9"/>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Libraries &amp; Resources Used</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Overview of critical external modules and packages used</a:t>
            </a:r>
            <a:endParaRPr lang="en-US" sz="1200" dirty="0"/>
          </a:p>
        </p:txBody>
      </p:sp>
      <p:sp>
        <p:nvSpPr>
          <p:cNvPr id="6" name="Shape 4"/>
          <p:cNvSpPr/>
          <p:nvPr/>
        </p:nvSpPr>
        <p:spPr>
          <a:xfrm>
            <a:off x="548640" y="1280160"/>
            <a:ext cx="2560320" cy="1371600"/>
          </a:xfrm>
          <a:prstGeom prst="roundRect">
            <a:avLst>
              <a:gd name="adj" fmla="val 3333"/>
            </a:avLst>
          </a:prstGeom>
          <a:solidFill>
            <a:srgbClr val="F8FAFC"/>
          </a:solidFill>
          <a:ln w="19050">
            <a:solidFill>
              <a:srgbClr val="CBD5E1"/>
            </a:solidFill>
            <a:prstDash val="solid"/>
          </a:ln>
        </p:spPr>
      </p:sp>
      <p:sp>
        <p:nvSpPr>
          <p:cNvPr id="7" name="Text 5"/>
          <p:cNvSpPr/>
          <p:nvPr/>
        </p:nvSpPr>
        <p:spPr>
          <a:xfrm>
            <a:off x="685800" y="1371600"/>
            <a:ext cx="2286000" cy="228600"/>
          </a:xfrm>
          <a:prstGeom prst="rect">
            <a:avLst/>
          </a:prstGeom>
          <a:noFill/>
          <a:ln/>
        </p:spPr>
        <p:txBody>
          <a:bodyPr wrap="square" rtlCol="0" anchor="ctr">
            <a:normAutofit/>
          </a:bodyPr>
          <a:lstStyle/>
          <a:p>
            <a:pPr indent="0" marL="0">
              <a:buNone/>
            </a:pPr>
            <a:r>
              <a:rPr lang="en-US" sz="1200" b="1" dirty="0">
                <a:solidFill>
                  <a:srgbClr val="1E3A8A"/>
                </a:solidFill>
                <a:latin typeface="Segoe UI" pitchFamily="34" charset="0"/>
                <a:ea typeface="Segoe UI" pitchFamily="34" charset="-122"/>
                <a:cs typeface="Segoe UI" pitchFamily="34" charset="-120"/>
              </a:rPr>
              <a:t>CORS</a:t>
            </a:r>
            <a:endParaRPr lang="en-US" sz="1200" dirty="0"/>
          </a:p>
        </p:txBody>
      </p:sp>
      <p:sp>
        <p:nvSpPr>
          <p:cNvPr id="8" name="Text 6"/>
          <p:cNvSpPr/>
          <p:nvPr/>
        </p:nvSpPr>
        <p:spPr>
          <a:xfrm>
            <a:off x="685800" y="1691640"/>
            <a:ext cx="2286000" cy="86868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Enables secure cross-origin resource sharing, permitting the frontend client to query the Node server.</a:t>
            </a:r>
            <a:endParaRPr lang="en-US" sz="1000" dirty="0"/>
          </a:p>
        </p:txBody>
      </p:sp>
      <p:sp>
        <p:nvSpPr>
          <p:cNvPr id="9" name="Shape 7"/>
          <p:cNvSpPr/>
          <p:nvPr/>
        </p:nvSpPr>
        <p:spPr>
          <a:xfrm>
            <a:off x="3291840" y="1280160"/>
            <a:ext cx="2560320" cy="1371600"/>
          </a:xfrm>
          <a:prstGeom prst="roundRect">
            <a:avLst>
              <a:gd name="adj" fmla="val 3333"/>
            </a:avLst>
          </a:prstGeom>
          <a:solidFill>
            <a:srgbClr val="F8FAFC"/>
          </a:solidFill>
          <a:ln w="19050">
            <a:solidFill>
              <a:srgbClr val="CBD5E1"/>
            </a:solidFill>
            <a:prstDash val="solid"/>
          </a:ln>
        </p:spPr>
      </p:sp>
      <p:sp>
        <p:nvSpPr>
          <p:cNvPr id="10" name="Text 8"/>
          <p:cNvSpPr/>
          <p:nvPr/>
        </p:nvSpPr>
        <p:spPr>
          <a:xfrm>
            <a:off x="3429000" y="1371600"/>
            <a:ext cx="2286000" cy="228600"/>
          </a:xfrm>
          <a:prstGeom prst="rect">
            <a:avLst/>
          </a:prstGeom>
          <a:noFill/>
          <a:ln/>
        </p:spPr>
        <p:txBody>
          <a:bodyPr wrap="square" rtlCol="0" anchor="ctr">
            <a:normAutofit/>
          </a:bodyPr>
          <a:lstStyle/>
          <a:p>
            <a:pPr indent="0" marL="0">
              <a:buNone/>
            </a:pPr>
            <a:r>
              <a:rPr lang="en-US" sz="1200" b="1" dirty="0">
                <a:solidFill>
                  <a:srgbClr val="1E3A8A"/>
                </a:solidFill>
                <a:latin typeface="Segoe UI" pitchFamily="34" charset="0"/>
                <a:ea typeface="Segoe UI" pitchFamily="34" charset="-122"/>
                <a:cs typeface="Segoe UI" pitchFamily="34" charset="-120"/>
              </a:rPr>
              <a:t>Lucide Icons</a:t>
            </a:r>
            <a:endParaRPr lang="en-US" sz="1200" dirty="0"/>
          </a:p>
        </p:txBody>
      </p:sp>
      <p:sp>
        <p:nvSpPr>
          <p:cNvPr id="11" name="Text 9"/>
          <p:cNvSpPr/>
          <p:nvPr/>
        </p:nvSpPr>
        <p:spPr>
          <a:xfrm>
            <a:off x="3429000" y="1691640"/>
            <a:ext cx="2286000" cy="86868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Delivers crisp, scalable vector SVG icon badges for interactive buttons and status tracking.</a:t>
            </a:r>
            <a:endParaRPr lang="en-US" sz="1000" dirty="0"/>
          </a:p>
        </p:txBody>
      </p:sp>
      <p:sp>
        <p:nvSpPr>
          <p:cNvPr id="12" name="Shape 10"/>
          <p:cNvSpPr/>
          <p:nvPr/>
        </p:nvSpPr>
        <p:spPr>
          <a:xfrm>
            <a:off x="6035040" y="1280160"/>
            <a:ext cx="2560320" cy="1371600"/>
          </a:xfrm>
          <a:prstGeom prst="roundRect">
            <a:avLst>
              <a:gd name="adj" fmla="val 3333"/>
            </a:avLst>
          </a:prstGeom>
          <a:solidFill>
            <a:srgbClr val="F8FAFC"/>
          </a:solidFill>
          <a:ln w="19050">
            <a:solidFill>
              <a:srgbClr val="CBD5E1"/>
            </a:solidFill>
            <a:prstDash val="solid"/>
          </a:ln>
        </p:spPr>
      </p:sp>
      <p:sp>
        <p:nvSpPr>
          <p:cNvPr id="13" name="Text 11"/>
          <p:cNvSpPr/>
          <p:nvPr/>
        </p:nvSpPr>
        <p:spPr>
          <a:xfrm>
            <a:off x="6172200" y="1371600"/>
            <a:ext cx="2286000" cy="228600"/>
          </a:xfrm>
          <a:prstGeom prst="rect">
            <a:avLst/>
          </a:prstGeom>
          <a:noFill/>
          <a:ln/>
        </p:spPr>
        <p:txBody>
          <a:bodyPr wrap="square" rtlCol="0" anchor="ctr">
            <a:normAutofit/>
          </a:bodyPr>
          <a:lstStyle/>
          <a:p>
            <a:pPr indent="0" marL="0">
              <a:buNone/>
            </a:pPr>
            <a:r>
              <a:rPr lang="en-US" sz="1200" b="1" dirty="0">
                <a:solidFill>
                  <a:srgbClr val="1E3A8A"/>
                </a:solidFill>
                <a:latin typeface="Segoe UI" pitchFamily="34" charset="0"/>
                <a:ea typeface="Segoe UI" pitchFamily="34" charset="-122"/>
                <a:cs typeface="Segoe UI" pitchFamily="34" charset="-120"/>
              </a:rPr>
              <a:t>Google Fonts</a:t>
            </a:r>
            <a:endParaRPr lang="en-US" sz="1200" dirty="0"/>
          </a:p>
        </p:txBody>
      </p:sp>
      <p:sp>
        <p:nvSpPr>
          <p:cNvPr id="14" name="Text 12"/>
          <p:cNvSpPr/>
          <p:nvPr/>
        </p:nvSpPr>
        <p:spPr>
          <a:xfrm>
            <a:off x="6172200" y="1691640"/>
            <a:ext cx="2286000" cy="86868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Integrates Inter and Outfit web typography styles directly into UI elements for a modern feel.</a:t>
            </a:r>
            <a:endParaRPr lang="en-US" sz="1000" dirty="0"/>
          </a:p>
        </p:txBody>
      </p:sp>
      <p:sp>
        <p:nvSpPr>
          <p:cNvPr id="15" name="Shape 13"/>
          <p:cNvSpPr/>
          <p:nvPr/>
        </p:nvSpPr>
        <p:spPr>
          <a:xfrm>
            <a:off x="548640" y="2926080"/>
            <a:ext cx="2560320" cy="1371600"/>
          </a:xfrm>
          <a:prstGeom prst="roundRect">
            <a:avLst>
              <a:gd name="adj" fmla="val 3333"/>
            </a:avLst>
          </a:prstGeom>
          <a:solidFill>
            <a:srgbClr val="F8FAFC"/>
          </a:solidFill>
          <a:ln w="19050">
            <a:solidFill>
              <a:srgbClr val="CBD5E1"/>
            </a:solidFill>
            <a:prstDash val="solid"/>
          </a:ln>
        </p:spPr>
      </p:sp>
      <p:sp>
        <p:nvSpPr>
          <p:cNvPr id="16" name="Text 14"/>
          <p:cNvSpPr/>
          <p:nvPr/>
        </p:nvSpPr>
        <p:spPr>
          <a:xfrm>
            <a:off x="685800" y="3017520"/>
            <a:ext cx="2286000" cy="228600"/>
          </a:xfrm>
          <a:prstGeom prst="rect">
            <a:avLst/>
          </a:prstGeom>
          <a:noFill/>
          <a:ln/>
        </p:spPr>
        <p:txBody>
          <a:bodyPr wrap="square" rtlCol="0" anchor="ctr">
            <a:normAutofit/>
          </a:bodyPr>
          <a:lstStyle/>
          <a:p>
            <a:pPr indent="0" marL="0">
              <a:buNone/>
            </a:pPr>
            <a:r>
              <a:rPr lang="en-US" sz="1200" b="1" dirty="0">
                <a:solidFill>
                  <a:srgbClr val="1E3A8A"/>
                </a:solidFill>
                <a:latin typeface="Segoe UI" pitchFamily="34" charset="0"/>
                <a:ea typeface="Segoe UI" pitchFamily="34" charset="-122"/>
                <a:cs typeface="Segoe UI" pitchFamily="34" charset="-120"/>
              </a:rPr>
              <a:t>Fetch API</a:t>
            </a:r>
            <a:endParaRPr lang="en-US" sz="1200" dirty="0"/>
          </a:p>
        </p:txBody>
      </p:sp>
      <p:sp>
        <p:nvSpPr>
          <p:cNvPr id="17" name="Text 15"/>
          <p:cNvSpPr/>
          <p:nvPr/>
        </p:nvSpPr>
        <p:spPr>
          <a:xfrm>
            <a:off x="685800" y="3337560"/>
            <a:ext cx="2286000" cy="86868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Native async browser API used to send requests and fetch campaign records from REST endpoints.</a:t>
            </a:r>
            <a:endParaRPr lang="en-US" sz="1000" dirty="0"/>
          </a:p>
        </p:txBody>
      </p:sp>
      <p:sp>
        <p:nvSpPr>
          <p:cNvPr id="18" name="Shape 16"/>
          <p:cNvSpPr/>
          <p:nvPr/>
        </p:nvSpPr>
        <p:spPr>
          <a:xfrm>
            <a:off x="3291840" y="2926080"/>
            <a:ext cx="2560320" cy="1371600"/>
          </a:xfrm>
          <a:prstGeom prst="roundRect">
            <a:avLst>
              <a:gd name="adj" fmla="val 3333"/>
            </a:avLst>
          </a:prstGeom>
          <a:solidFill>
            <a:srgbClr val="F8FAFC"/>
          </a:solidFill>
          <a:ln w="19050">
            <a:solidFill>
              <a:srgbClr val="CBD5E1"/>
            </a:solidFill>
            <a:prstDash val="solid"/>
          </a:ln>
        </p:spPr>
      </p:sp>
      <p:sp>
        <p:nvSpPr>
          <p:cNvPr id="19" name="Text 17"/>
          <p:cNvSpPr/>
          <p:nvPr/>
        </p:nvSpPr>
        <p:spPr>
          <a:xfrm>
            <a:off x="3429000" y="3017520"/>
            <a:ext cx="2286000" cy="228600"/>
          </a:xfrm>
          <a:prstGeom prst="rect">
            <a:avLst/>
          </a:prstGeom>
          <a:noFill/>
          <a:ln/>
        </p:spPr>
        <p:txBody>
          <a:bodyPr wrap="square" rtlCol="0" anchor="ctr">
            <a:normAutofit/>
          </a:bodyPr>
          <a:lstStyle/>
          <a:p>
            <a:pPr indent="0" marL="0">
              <a:buNone/>
            </a:pPr>
            <a:r>
              <a:rPr lang="en-US" sz="1200" b="1" dirty="0">
                <a:solidFill>
                  <a:srgbClr val="1E3A8A"/>
                </a:solidFill>
                <a:latin typeface="Segoe UI" pitchFamily="34" charset="0"/>
                <a:ea typeface="Segoe UI" pitchFamily="34" charset="-122"/>
                <a:cs typeface="Segoe UI" pitchFamily="34" charset="-120"/>
              </a:rPr>
              <a:t>html2canvas</a:t>
            </a:r>
            <a:endParaRPr lang="en-US" sz="1200" dirty="0"/>
          </a:p>
        </p:txBody>
      </p:sp>
      <p:sp>
        <p:nvSpPr>
          <p:cNvPr id="20" name="Text 18"/>
          <p:cNvSpPr/>
          <p:nvPr/>
        </p:nvSpPr>
        <p:spPr>
          <a:xfrm>
            <a:off x="3429000" y="3337560"/>
            <a:ext cx="2286000" cy="86868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Compiles DOM nodes into canvas buffers, letting users download high-res PNG mockups.</a:t>
            </a:r>
            <a:endParaRPr lang="en-US" sz="1000" dirty="0"/>
          </a:p>
        </p:txBody>
      </p:sp>
      <p:sp>
        <p:nvSpPr>
          <p:cNvPr id="21" name="Shape 19"/>
          <p:cNvSpPr/>
          <p:nvPr/>
        </p:nvSpPr>
        <p:spPr>
          <a:xfrm>
            <a:off x="6035040" y="2926080"/>
            <a:ext cx="2560320" cy="1371600"/>
          </a:xfrm>
          <a:prstGeom prst="roundRect">
            <a:avLst>
              <a:gd name="adj" fmla="val 3333"/>
            </a:avLst>
          </a:prstGeom>
          <a:solidFill>
            <a:srgbClr val="F8FAFC"/>
          </a:solidFill>
          <a:ln w="19050">
            <a:solidFill>
              <a:srgbClr val="CBD5E1"/>
            </a:solidFill>
            <a:prstDash val="solid"/>
          </a:ln>
        </p:spPr>
      </p:sp>
      <p:sp>
        <p:nvSpPr>
          <p:cNvPr id="22" name="Text 20"/>
          <p:cNvSpPr/>
          <p:nvPr/>
        </p:nvSpPr>
        <p:spPr>
          <a:xfrm>
            <a:off x="6172200" y="3017520"/>
            <a:ext cx="2286000" cy="228600"/>
          </a:xfrm>
          <a:prstGeom prst="rect">
            <a:avLst/>
          </a:prstGeom>
          <a:noFill/>
          <a:ln/>
        </p:spPr>
        <p:txBody>
          <a:bodyPr wrap="square" rtlCol="0" anchor="ctr">
            <a:normAutofit/>
          </a:bodyPr>
          <a:lstStyle/>
          <a:p>
            <a:pPr indent="0" marL="0">
              <a:buNone/>
            </a:pPr>
            <a:r>
              <a:rPr lang="en-US" sz="1200" b="1" dirty="0">
                <a:solidFill>
                  <a:srgbClr val="1E3A8A"/>
                </a:solidFill>
                <a:latin typeface="Segoe UI" pitchFamily="34" charset="0"/>
                <a:ea typeface="Segoe UI" pitchFamily="34" charset="-122"/>
                <a:cs typeface="Segoe UI" pitchFamily="34" charset="-120"/>
              </a:rPr>
              <a:t>jsPDF</a:t>
            </a:r>
            <a:endParaRPr lang="en-US" sz="1200" dirty="0"/>
          </a:p>
        </p:txBody>
      </p:sp>
      <p:sp>
        <p:nvSpPr>
          <p:cNvPr id="23" name="Text 21"/>
          <p:cNvSpPr/>
          <p:nvPr/>
        </p:nvSpPr>
        <p:spPr>
          <a:xfrm>
            <a:off x="6172200" y="3337560"/>
            <a:ext cx="2286000" cy="868680"/>
          </a:xfrm>
          <a:prstGeom prst="rect">
            <a:avLst/>
          </a:prstGeom>
          <a:noFill/>
          <a:ln/>
        </p:spPr>
        <p:txBody>
          <a:bodyPr wrap="square" rtlCol="0" anchor="ctr">
            <a:normAutofit/>
          </a:bodyPr>
          <a:lstStyle/>
          <a:p>
            <a:pPr indent="0" marL="0">
              <a:buNone/>
            </a:pPr>
            <a:r>
              <a:rPr lang="en-US" sz="1000" dirty="0">
                <a:solidFill>
                  <a:srgbClr val="1E293B"/>
                </a:solidFill>
                <a:latin typeface="Arial" pitchFamily="34" charset="0"/>
                <a:ea typeface="Arial" pitchFamily="34" charset="-122"/>
                <a:cs typeface="Arial" pitchFamily="34" charset="-120"/>
              </a:rPr>
              <a:t>Converts text and canvas screenshots into downloadable multi-page campaign PDF briefings.</a:t>
            </a:r>
            <a:endParaRPr lang="en-US" sz="1000" dirty="0"/>
          </a:p>
        </p:txBody>
      </p:sp>
      <p:sp>
        <p:nvSpPr>
          <p:cNvPr id="24" name="Text 22"/>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25" name="Text 23"/>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3A8A"/>
          </a:solidFill>
          <a:ln/>
        </p:spPr>
      </p:sp>
      <p:sp>
        <p:nvSpPr>
          <p:cNvPr id="3" name="Shape 1"/>
          <p:cNvSpPr/>
          <p:nvPr/>
        </p:nvSpPr>
        <p:spPr>
          <a:xfrm>
            <a:off x="548640" y="1005840"/>
            <a:ext cx="8046720" cy="13716"/>
          </a:xfrm>
          <a:prstGeom prst="rect">
            <a:avLst/>
          </a:prstGeom>
          <a:solidFill>
            <a:srgbClr val="CBD5E1"/>
          </a:solidFill>
          <a:ln/>
        </p:spPr>
      </p:sp>
      <p:sp>
        <p:nvSpPr>
          <p:cNvPr id="4" name="Text 2"/>
          <p:cNvSpPr/>
          <p:nvPr/>
        </p:nvSpPr>
        <p:spPr>
          <a:xfrm>
            <a:off x="548640" y="274320"/>
            <a:ext cx="804672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Challenges &amp; Technical Solutions</a:t>
            </a:r>
            <a:endParaRPr lang="en-US" sz="2200" dirty="0"/>
          </a:p>
        </p:txBody>
      </p:sp>
      <p:sp>
        <p:nvSpPr>
          <p:cNvPr id="5" name="Text 3"/>
          <p:cNvSpPr/>
          <p:nvPr/>
        </p:nvSpPr>
        <p:spPr>
          <a:xfrm>
            <a:off x="548640" y="685800"/>
            <a:ext cx="8046720" cy="274320"/>
          </a:xfrm>
          <a:prstGeom prst="rect">
            <a:avLst/>
          </a:prstGeom>
          <a:noFill/>
          <a:ln/>
        </p:spPr>
        <p:txBody>
          <a:bodyPr wrap="square" rtlCol="0" anchor="ctr">
            <a:normAutofit/>
          </a:bodyPr>
          <a:lstStyle/>
          <a:p>
            <a:pPr indent="0" marL="0">
              <a:buNone/>
            </a:pPr>
            <a:r>
              <a:rPr lang="en-US" sz="1200" dirty="0">
                <a:solidFill>
                  <a:srgbClr val="475569"/>
                </a:solidFill>
                <a:latin typeface="Arial" pitchFamily="34" charset="0"/>
                <a:ea typeface="Arial" pitchFamily="34" charset="-122"/>
                <a:cs typeface="Arial" pitchFamily="34" charset="-120"/>
              </a:rPr>
              <a:t>Overcoming core obstacles in browser canvas security and platform validation</a:t>
            </a:r>
            <a:endParaRPr lang="en-US" sz="1200" dirty="0"/>
          </a:p>
        </p:txBody>
      </p:sp>
      <p:sp>
        <p:nvSpPr>
          <p:cNvPr id="6" name="Shape 4"/>
          <p:cNvSpPr/>
          <p:nvPr/>
        </p:nvSpPr>
        <p:spPr>
          <a:xfrm>
            <a:off x="548640" y="1280160"/>
            <a:ext cx="2560320" cy="3108960"/>
          </a:xfrm>
          <a:prstGeom prst="roundRect">
            <a:avLst>
              <a:gd name="adj" fmla="val 1786"/>
            </a:avLst>
          </a:prstGeom>
          <a:solidFill>
            <a:srgbClr val="F8FAFC"/>
          </a:solidFill>
          <a:ln w="19050">
            <a:solidFill>
              <a:srgbClr val="3B82F6"/>
            </a:solidFill>
            <a:prstDash val="solid"/>
          </a:ln>
        </p:spPr>
      </p:sp>
      <p:sp>
        <p:nvSpPr>
          <p:cNvPr id="7" name="Text 5"/>
          <p:cNvSpPr/>
          <p:nvPr/>
        </p:nvSpPr>
        <p:spPr>
          <a:xfrm>
            <a:off x="685800" y="0"/>
            <a:ext cx="2286000" cy="228600"/>
          </a:xfrm>
          <a:prstGeom prst="rect">
            <a:avLst/>
          </a:prstGeom>
          <a:noFill/>
          <a:ln/>
        </p:spPr>
        <p:txBody>
          <a:bodyPr wrap="square" rtlCol="0" anchor="ctr">
            <a:normAutofit/>
          </a:bodyPr>
          <a:lstStyle/>
          <a:p>
            <a:pPr indent="0" marL="0">
              <a:buNone/>
            </a:pPr>
            <a:r>
              <a:rPr lang="en-US" sz="1000" b="1" dirty="0">
                <a:solidFill>
                  <a:srgbClr val="475569"/>
                </a:solidFill>
                <a:latin typeface="Segoe UI" pitchFamily="34" charset="0"/>
                <a:ea typeface="Segoe UI" pitchFamily="34" charset="-122"/>
                <a:cs typeface="Segoe UI" pitchFamily="34" charset="-120"/>
              </a:rPr>
              <a:t>CHALLENGE 1</a:t>
            </a:r>
            <a:endParaRPr lang="en-US" sz="1000" dirty="0"/>
          </a:p>
        </p:txBody>
      </p:sp>
      <p:sp>
        <p:nvSpPr>
          <p:cNvPr id="8" name="Text 6"/>
          <p:cNvSpPr/>
          <p:nvPr/>
        </p:nvSpPr>
        <p:spPr>
          <a:xfrm>
            <a:off x="685800" y="0"/>
            <a:ext cx="2286000" cy="274320"/>
          </a:xfrm>
          <a:prstGeom prst="rect">
            <a:avLst/>
          </a:prstGeom>
          <a:noFill/>
          <a:ln/>
        </p:spPr>
        <p:txBody>
          <a:bodyPr wrap="square" rtlCol="0" anchor="ctr">
            <a:normAutofit/>
          </a:bodyPr>
          <a:lstStyle/>
          <a:p>
            <a:pPr indent="0" marL="0">
              <a:buNone/>
            </a:pPr>
            <a:r>
              <a:rPr lang="en-US" sz="1300" b="1" dirty="0">
                <a:solidFill>
                  <a:srgbClr val="1E3A8A"/>
                </a:solidFill>
                <a:latin typeface="Segoe UI" pitchFamily="34" charset="0"/>
                <a:ea typeface="Segoe UI" pitchFamily="34" charset="-122"/>
                <a:cs typeface="Segoe UI" pitchFamily="34" charset="-120"/>
              </a:rPr>
              <a:t>CORS Canvas Tainting</a:t>
            </a:r>
            <a:endParaRPr lang="en-US" sz="1300" dirty="0"/>
          </a:p>
        </p:txBody>
      </p:sp>
      <p:sp>
        <p:nvSpPr>
          <p:cNvPr id="9" name="Text 7"/>
          <p:cNvSpPr/>
          <p:nvPr/>
        </p:nvSpPr>
        <p:spPr>
          <a:xfrm>
            <a:off x="685800" y="0"/>
            <a:ext cx="2286000" cy="1005840"/>
          </a:xfrm>
          <a:prstGeom prst="rect">
            <a:avLst/>
          </a:prstGeom>
          <a:noFill/>
          <a:ln/>
        </p:spPr>
        <p:txBody>
          <a:bodyPr wrap="square" rtlCol="0" anchor="ctr">
            <a:normAutofit/>
          </a:bodyPr>
          <a:lstStyle/>
          <a:p>
            <a:pPr indent="0" marL="0">
              <a:buNone/>
            </a:pPr>
            <a:r>
              <a:rPr lang="en-US" sz="950" dirty="0">
                <a:solidFill>
                  <a:srgbClr val="1E293B"/>
                </a:solidFill>
                <a:latin typeface="Arial" pitchFamily="34" charset="0"/>
                <a:ea typeface="Arial" pitchFamily="34" charset="-122"/>
                <a:cs typeface="Arial" pitchFamily="34" charset="-120"/>
              </a:rPr>
              <a:t>Fetching Unsplash or Google Places photos directly in html2canvas caused CORS security issues, blocking mockup PNG exports.</a:t>
            </a:r>
            <a:endParaRPr lang="en-US" sz="950" dirty="0"/>
          </a:p>
        </p:txBody>
      </p:sp>
      <p:sp>
        <p:nvSpPr>
          <p:cNvPr id="10" name="Text 8"/>
          <p:cNvSpPr/>
          <p:nvPr/>
        </p:nvSpPr>
        <p:spPr>
          <a:xfrm>
            <a:off x="685800" y="0"/>
            <a:ext cx="2286000" cy="1188720"/>
          </a:xfrm>
          <a:prstGeom prst="rect">
            <a:avLst/>
          </a:prstGeom>
          <a:noFill/>
          <a:ln/>
        </p:spPr>
        <p:txBody>
          <a:bodyPr wrap="square" rtlCol="0" anchor="ctr">
            <a:normAutofit/>
          </a:bodyPr>
          <a:lstStyle/>
          <a:p>
            <a:pPr indent="0" marL="0">
              <a:buNone/>
            </a:pPr>
            <a:r>
              <a:rPr lang="en-US" sz="1000" b="1" dirty="0">
                <a:solidFill>
                  <a:srgbClr val="16A34A"/>
                </a:solidFill>
                <a:latin typeface="Arial" pitchFamily="34" charset="0"/>
                <a:ea typeface="Arial" pitchFamily="34" charset="-122"/>
                <a:cs typeface="Arial" pitchFamily="34" charset="-120"/>
              </a:rPr>
              <a:t>Solution: Set up a backend Express image proxy route that fetches image binary buffers and pipes them as safe Base64 URLs.</a:t>
            </a:r>
            <a:endParaRPr lang="en-US" sz="1000" dirty="0"/>
          </a:p>
        </p:txBody>
      </p:sp>
      <p:sp>
        <p:nvSpPr>
          <p:cNvPr id="11" name="Shape 9"/>
          <p:cNvSpPr/>
          <p:nvPr/>
        </p:nvSpPr>
        <p:spPr>
          <a:xfrm>
            <a:off x="3291840" y="1280160"/>
            <a:ext cx="2560320" cy="3108960"/>
          </a:xfrm>
          <a:prstGeom prst="roundRect">
            <a:avLst>
              <a:gd name="adj" fmla="val 1786"/>
            </a:avLst>
          </a:prstGeom>
          <a:solidFill>
            <a:srgbClr val="FFF7ED"/>
          </a:solidFill>
          <a:ln w="19050">
            <a:solidFill>
              <a:srgbClr val="EA580C"/>
            </a:solidFill>
            <a:prstDash val="solid"/>
          </a:ln>
        </p:spPr>
      </p:sp>
      <p:sp>
        <p:nvSpPr>
          <p:cNvPr id="12" name="Text 10"/>
          <p:cNvSpPr/>
          <p:nvPr/>
        </p:nvSpPr>
        <p:spPr>
          <a:xfrm>
            <a:off x="3429000" y="0"/>
            <a:ext cx="2286000" cy="228600"/>
          </a:xfrm>
          <a:prstGeom prst="rect">
            <a:avLst/>
          </a:prstGeom>
          <a:noFill/>
          <a:ln/>
        </p:spPr>
        <p:txBody>
          <a:bodyPr wrap="square" rtlCol="0" anchor="ctr">
            <a:normAutofit/>
          </a:bodyPr>
          <a:lstStyle/>
          <a:p>
            <a:pPr indent="0" marL="0">
              <a:buNone/>
            </a:pPr>
            <a:r>
              <a:rPr lang="en-US" sz="1000" b="1" dirty="0">
                <a:solidFill>
                  <a:srgbClr val="475569"/>
                </a:solidFill>
                <a:latin typeface="Segoe UI" pitchFamily="34" charset="0"/>
                <a:ea typeface="Segoe UI" pitchFamily="34" charset="-122"/>
                <a:cs typeface="Segoe UI" pitchFamily="34" charset="-120"/>
              </a:rPr>
              <a:t>CHALLENGE 2</a:t>
            </a:r>
            <a:endParaRPr lang="en-US" sz="1000" dirty="0"/>
          </a:p>
        </p:txBody>
      </p:sp>
      <p:sp>
        <p:nvSpPr>
          <p:cNvPr id="13" name="Text 11"/>
          <p:cNvSpPr/>
          <p:nvPr/>
        </p:nvSpPr>
        <p:spPr>
          <a:xfrm>
            <a:off x="3429000" y="0"/>
            <a:ext cx="2286000" cy="274320"/>
          </a:xfrm>
          <a:prstGeom prst="rect">
            <a:avLst/>
          </a:prstGeom>
          <a:noFill/>
          <a:ln/>
        </p:spPr>
        <p:txBody>
          <a:bodyPr wrap="square" rtlCol="0" anchor="ctr">
            <a:normAutofit/>
          </a:bodyPr>
          <a:lstStyle/>
          <a:p>
            <a:pPr indent="0" marL="0">
              <a:buNone/>
            </a:pPr>
            <a:r>
              <a:rPr lang="en-US" sz="1300" b="1" dirty="0">
                <a:solidFill>
                  <a:srgbClr val="1E3A8A"/>
                </a:solidFill>
                <a:latin typeface="Segoe UI" pitchFamily="34" charset="0"/>
                <a:ea typeface="Segoe UI" pitchFamily="34" charset="-122"/>
                <a:cs typeface="Segoe UI" pitchFamily="34" charset="-120"/>
              </a:rPr>
              <a:t>Character Limit Variances</a:t>
            </a:r>
            <a:endParaRPr lang="en-US" sz="1300" dirty="0"/>
          </a:p>
        </p:txBody>
      </p:sp>
      <p:sp>
        <p:nvSpPr>
          <p:cNvPr id="14" name="Text 12"/>
          <p:cNvSpPr/>
          <p:nvPr/>
        </p:nvSpPr>
        <p:spPr>
          <a:xfrm>
            <a:off x="3429000" y="0"/>
            <a:ext cx="2286000" cy="1005840"/>
          </a:xfrm>
          <a:prstGeom prst="rect">
            <a:avLst/>
          </a:prstGeom>
          <a:noFill/>
          <a:ln/>
        </p:spPr>
        <p:txBody>
          <a:bodyPr wrap="square" rtlCol="0" anchor="ctr">
            <a:normAutofit/>
          </a:bodyPr>
          <a:lstStyle/>
          <a:p>
            <a:pPr indent="0" marL="0">
              <a:buNone/>
            </a:pPr>
            <a:r>
              <a:rPr lang="en-US" sz="950" dirty="0">
                <a:solidFill>
                  <a:srgbClr val="1E293B"/>
                </a:solidFill>
                <a:latin typeface="Arial" pitchFamily="34" charset="0"/>
                <a:ea typeface="Arial" pitchFamily="34" charset="-122"/>
                <a:cs typeface="Arial" pitchFamily="34" charset="-120"/>
              </a:rPr>
              <a:t>Facebook, Google Ads, and LinkedIn have strict character bounds (e.g. 30-char Google headers). Copy overflowing limits broke layouts.</a:t>
            </a:r>
            <a:endParaRPr lang="en-US" sz="950" dirty="0"/>
          </a:p>
        </p:txBody>
      </p:sp>
      <p:sp>
        <p:nvSpPr>
          <p:cNvPr id="15" name="Text 13"/>
          <p:cNvSpPr/>
          <p:nvPr/>
        </p:nvSpPr>
        <p:spPr>
          <a:xfrm>
            <a:off x="3429000" y="0"/>
            <a:ext cx="2286000" cy="1188720"/>
          </a:xfrm>
          <a:prstGeom prst="rect">
            <a:avLst/>
          </a:prstGeom>
          <a:noFill/>
          <a:ln/>
        </p:spPr>
        <p:txBody>
          <a:bodyPr wrap="square" rtlCol="0" anchor="ctr">
            <a:normAutofit/>
          </a:bodyPr>
          <a:lstStyle/>
          <a:p>
            <a:pPr indent="0" marL="0">
              <a:buNone/>
            </a:pPr>
            <a:r>
              <a:rPr lang="en-US" sz="1000" b="1" dirty="0">
                <a:solidFill>
                  <a:srgbClr val="16A34A"/>
                </a:solidFill>
                <a:latin typeface="Arial" pitchFamily="34" charset="0"/>
                <a:ea typeface="Arial" pitchFamily="34" charset="-122"/>
                <a:cs typeface="Arial" pitchFamily="34" charset="-120"/>
              </a:rPr>
              <a:t>Solution: Designed client validation logic that trims strings and highlights overflow dynamically per social layout grid.</a:t>
            </a:r>
            <a:endParaRPr lang="en-US" sz="1000" dirty="0"/>
          </a:p>
        </p:txBody>
      </p:sp>
      <p:sp>
        <p:nvSpPr>
          <p:cNvPr id="16" name="Shape 14"/>
          <p:cNvSpPr/>
          <p:nvPr/>
        </p:nvSpPr>
        <p:spPr>
          <a:xfrm>
            <a:off x="6035040" y="1280160"/>
            <a:ext cx="2560320" cy="3108960"/>
          </a:xfrm>
          <a:prstGeom prst="roundRect">
            <a:avLst>
              <a:gd name="adj" fmla="val 1786"/>
            </a:avLst>
          </a:prstGeom>
          <a:solidFill>
            <a:srgbClr val="F0FDF4"/>
          </a:solidFill>
          <a:ln w="19050">
            <a:solidFill>
              <a:srgbClr val="16A34A"/>
            </a:solidFill>
            <a:prstDash val="solid"/>
          </a:ln>
        </p:spPr>
      </p:sp>
      <p:sp>
        <p:nvSpPr>
          <p:cNvPr id="17" name="Text 15"/>
          <p:cNvSpPr/>
          <p:nvPr/>
        </p:nvSpPr>
        <p:spPr>
          <a:xfrm>
            <a:off x="6172200" y="0"/>
            <a:ext cx="2286000" cy="228600"/>
          </a:xfrm>
          <a:prstGeom prst="rect">
            <a:avLst/>
          </a:prstGeom>
          <a:noFill/>
          <a:ln/>
        </p:spPr>
        <p:txBody>
          <a:bodyPr wrap="square" rtlCol="0" anchor="ctr">
            <a:normAutofit/>
          </a:bodyPr>
          <a:lstStyle/>
          <a:p>
            <a:pPr indent="0" marL="0">
              <a:buNone/>
            </a:pPr>
            <a:r>
              <a:rPr lang="en-US" sz="1000" b="1" dirty="0">
                <a:solidFill>
                  <a:srgbClr val="475569"/>
                </a:solidFill>
                <a:latin typeface="Segoe UI" pitchFamily="34" charset="0"/>
                <a:ea typeface="Segoe UI" pitchFamily="34" charset="-122"/>
                <a:cs typeface="Segoe UI" pitchFamily="34" charset="-120"/>
              </a:rPr>
              <a:t>CHALLENGE 3</a:t>
            </a:r>
            <a:endParaRPr lang="en-US" sz="1000" dirty="0"/>
          </a:p>
        </p:txBody>
      </p:sp>
      <p:sp>
        <p:nvSpPr>
          <p:cNvPr id="18" name="Text 16"/>
          <p:cNvSpPr/>
          <p:nvPr/>
        </p:nvSpPr>
        <p:spPr>
          <a:xfrm>
            <a:off x="6172200" y="0"/>
            <a:ext cx="2286000" cy="274320"/>
          </a:xfrm>
          <a:prstGeom prst="rect">
            <a:avLst/>
          </a:prstGeom>
          <a:noFill/>
          <a:ln/>
        </p:spPr>
        <p:txBody>
          <a:bodyPr wrap="square" rtlCol="0" anchor="ctr">
            <a:normAutofit/>
          </a:bodyPr>
          <a:lstStyle/>
          <a:p>
            <a:pPr indent="0" marL="0">
              <a:buNone/>
            </a:pPr>
            <a:r>
              <a:rPr lang="en-US" sz="1300" b="1" dirty="0">
                <a:solidFill>
                  <a:srgbClr val="1E3A8A"/>
                </a:solidFill>
                <a:latin typeface="Segoe UI" pitchFamily="34" charset="0"/>
                <a:ea typeface="Segoe UI" pitchFamily="34" charset="-122"/>
                <a:cs typeface="Segoe UI" pitchFamily="34" charset="-120"/>
              </a:rPr>
              <a:t>Offline Sync Failover</a:t>
            </a:r>
            <a:endParaRPr lang="en-US" sz="1300" dirty="0"/>
          </a:p>
        </p:txBody>
      </p:sp>
      <p:sp>
        <p:nvSpPr>
          <p:cNvPr id="19" name="Text 17"/>
          <p:cNvSpPr/>
          <p:nvPr/>
        </p:nvSpPr>
        <p:spPr>
          <a:xfrm>
            <a:off x="6172200" y="0"/>
            <a:ext cx="2286000" cy="1005840"/>
          </a:xfrm>
          <a:prstGeom prst="rect">
            <a:avLst/>
          </a:prstGeom>
          <a:noFill/>
          <a:ln/>
        </p:spPr>
        <p:txBody>
          <a:bodyPr wrap="square" rtlCol="0" anchor="ctr">
            <a:normAutofit/>
          </a:bodyPr>
          <a:lstStyle/>
          <a:p>
            <a:pPr indent="0" marL="0">
              <a:buNone/>
            </a:pPr>
            <a:r>
              <a:rPr lang="en-US" sz="950" dirty="0">
                <a:solidFill>
                  <a:srgbClr val="1E293B"/>
                </a:solidFill>
                <a:latin typeface="Arial" pitchFamily="34" charset="0"/>
                <a:ea typeface="Arial" pitchFamily="34" charset="-122"/>
                <a:cs typeface="Arial" pitchFamily="34" charset="-120"/>
              </a:rPr>
              <a:t>Intermittent connection drops to server.js interrupted copy editing and review flows on local development.</a:t>
            </a:r>
            <a:endParaRPr lang="en-US" sz="950" dirty="0"/>
          </a:p>
        </p:txBody>
      </p:sp>
      <p:sp>
        <p:nvSpPr>
          <p:cNvPr id="20" name="Text 18"/>
          <p:cNvSpPr/>
          <p:nvPr/>
        </p:nvSpPr>
        <p:spPr>
          <a:xfrm>
            <a:off x="6172200" y="0"/>
            <a:ext cx="2286000" cy="1188720"/>
          </a:xfrm>
          <a:prstGeom prst="rect">
            <a:avLst/>
          </a:prstGeom>
          <a:noFill/>
          <a:ln/>
        </p:spPr>
        <p:txBody>
          <a:bodyPr wrap="square" rtlCol="0" anchor="ctr">
            <a:normAutofit/>
          </a:bodyPr>
          <a:lstStyle/>
          <a:p>
            <a:pPr indent="0" marL="0">
              <a:buNone/>
            </a:pPr>
            <a:r>
              <a:rPr lang="en-US" sz="1000" b="1" dirty="0">
                <a:solidFill>
                  <a:srgbClr val="16A34A"/>
                </a:solidFill>
                <a:latin typeface="Arial" pitchFamily="34" charset="0"/>
                <a:ea typeface="Arial" pitchFamily="34" charset="-122"/>
                <a:cs typeface="Arial" pitchFamily="34" charset="-120"/>
              </a:rPr>
              <a:t>Solution: Constructed a failsafe localStorage layer caching campaigns locally and syncs back when database recovers.</a:t>
            </a:r>
            <a:endParaRPr lang="en-US" sz="1000" dirty="0"/>
          </a:p>
        </p:txBody>
      </p:sp>
      <p:sp>
        <p:nvSpPr>
          <p:cNvPr id="21" name="Text 19"/>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22" name="Text 20"/>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371600"/>
            <a:ext cx="73152" cy="2560320"/>
          </a:xfrm>
          <a:prstGeom prst="rect">
            <a:avLst/>
          </a:prstGeom>
          <a:solidFill>
            <a:srgbClr val="1E3A8A"/>
          </a:solidFill>
          <a:ln/>
        </p:spPr>
      </p:sp>
      <p:sp>
        <p:nvSpPr>
          <p:cNvPr id="3" name="Shape 1"/>
          <p:cNvSpPr/>
          <p:nvPr/>
        </p:nvSpPr>
        <p:spPr>
          <a:xfrm>
            <a:off x="731520" y="1371600"/>
            <a:ext cx="73152" cy="2560320"/>
          </a:xfrm>
          <a:prstGeom prst="rect">
            <a:avLst/>
          </a:prstGeom>
          <a:solidFill>
            <a:srgbClr val="EA580C"/>
          </a:solidFill>
          <a:ln/>
        </p:spPr>
      </p:sp>
      <p:sp>
        <p:nvSpPr>
          <p:cNvPr id="4" name="Text 2"/>
          <p:cNvSpPr/>
          <p:nvPr/>
        </p:nvSpPr>
        <p:spPr>
          <a:xfrm>
            <a:off x="1005840" y="1280160"/>
            <a:ext cx="7315200" cy="274320"/>
          </a:xfrm>
          <a:prstGeom prst="rect">
            <a:avLst/>
          </a:prstGeom>
          <a:noFill/>
          <a:ln/>
        </p:spPr>
        <p:txBody>
          <a:bodyPr wrap="square" rtlCol="0" anchor="ctr">
            <a:normAutofit/>
          </a:bodyPr>
          <a:lstStyle/>
          <a:p>
            <a:pPr indent="0" marL="0">
              <a:buNone/>
            </a:pPr>
            <a:r>
              <a:rPr lang="en-US" sz="1100" b="1" dirty="0">
                <a:solidFill>
                  <a:srgbClr val="EA580C"/>
                </a:solidFill>
                <a:latin typeface="Arial" pitchFamily="34" charset="0"/>
                <a:ea typeface="Arial" pitchFamily="34" charset="-122"/>
                <a:cs typeface="Arial" pitchFamily="34" charset="-120"/>
              </a:rPr>
              <a:t>PROJECT ROADMAP</a:t>
            </a:r>
            <a:endParaRPr lang="en-US" sz="1100" dirty="0"/>
          </a:p>
        </p:txBody>
      </p:sp>
      <p:sp>
        <p:nvSpPr>
          <p:cNvPr id="5" name="Text 3"/>
          <p:cNvSpPr/>
          <p:nvPr/>
        </p:nvSpPr>
        <p:spPr>
          <a:xfrm>
            <a:off x="1005840" y="1645920"/>
            <a:ext cx="7315200" cy="411480"/>
          </a:xfrm>
          <a:prstGeom prst="rect">
            <a:avLst/>
          </a:prstGeom>
          <a:noFill/>
          <a:ln/>
        </p:spPr>
        <p:txBody>
          <a:bodyPr wrap="square" rtlCol="0" anchor="ctr">
            <a:normAutofit/>
          </a:bodyPr>
          <a:lstStyle/>
          <a:p>
            <a:pPr indent="0" marL="0">
              <a:buNone/>
            </a:pPr>
            <a:r>
              <a:rPr lang="en-US" sz="2200" b="1" dirty="0">
                <a:solidFill>
                  <a:srgbClr val="1E3A8A"/>
                </a:solidFill>
                <a:latin typeface="Segoe UI" pitchFamily="34" charset="0"/>
                <a:ea typeface="Segoe UI" pitchFamily="34" charset="-122"/>
                <a:cs typeface="Segoe UI" pitchFamily="34" charset="-120"/>
              </a:rPr>
              <a:t>Strategic Production Upgrades</a:t>
            </a:r>
            <a:endParaRPr lang="en-US" sz="2200" dirty="0"/>
          </a:p>
        </p:txBody>
      </p:sp>
      <p:sp>
        <p:nvSpPr>
          <p:cNvPr id="6" name="Text 4"/>
          <p:cNvSpPr/>
          <p:nvPr/>
        </p:nvSpPr>
        <p:spPr>
          <a:xfrm>
            <a:off x="1005840" y="2194560"/>
            <a:ext cx="7315200" cy="2286000"/>
          </a:xfrm>
          <a:prstGeom prst="rect">
            <a:avLst/>
          </a:prstGeom>
          <a:noFill/>
          <a:ln/>
        </p:spPr>
        <p:txBody>
          <a:bodyPr wrap="square" rtlCol="0" anchor="ctr">
            <a:normAutofit/>
          </a:bodyPr>
          <a:lstStyle/>
          <a:p>
            <a:pPr indent="0" marL="0">
              <a:buNone/>
            </a:pPr>
            <a:r>
              <a:rPr lang="en-US" sz="1100" dirty="0">
                <a:solidFill>
                  <a:srgbClr val="1E293B"/>
                </a:solidFill>
                <a:latin typeface="Arial" pitchFamily="34" charset="0"/>
                <a:ea typeface="Arial" pitchFamily="34" charset="-122"/>
                <a:cs typeface="Arial" pitchFamily="34" charset="-120"/>
              </a:rPr>
              <a:t>• Database Migration: Move from local flat file db.json to a managed Supabase PostgreSQL instance to enable user accounts, session handling, and scale.</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Generative AI API: Integrate official Gemini Pro API routes on the Express backend, replacing template matrices with real-time semantic copy generation.</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OAuth 2.0 logins: Introduce secure Google, Microsoft, and Meta OAuth sign-in workflows to support custom user workspaces and multi-tenant profiles.</a:t>
            </a:r>
            <a:endParaRPr lang="en-US" sz="1100" dirty="0"/>
          </a:p>
          <a:p>
            <a:pPr indent="0" marL="0">
              <a:buNone/>
            </a:pPr>
            <a:endParaRPr lang="en-US" sz="1100" dirty="0"/>
          </a:p>
          <a:p>
            <a:pPr indent="0" marL="0">
              <a:buNone/>
            </a:pPr>
            <a:r>
              <a:rPr lang="en-US" sz="1100" dirty="0">
                <a:solidFill>
                  <a:srgbClr val="1E293B"/>
                </a:solidFill>
                <a:latin typeface="Arial" pitchFamily="34" charset="0"/>
                <a:ea typeface="Arial" pitchFamily="34" charset="-122"/>
                <a:cs typeface="Arial" pitchFamily="34" charset="-120"/>
              </a:rPr>
              <a:t>• Active Publishing Webhooks: Link drafts to Google Ads API and Facebook Marketing Graph API for true automated publishing straight from the UI.</a:t>
            </a:r>
            <a:endParaRPr lang="en-US" sz="1100" dirty="0"/>
          </a:p>
        </p:txBody>
      </p:sp>
      <p:sp>
        <p:nvSpPr>
          <p:cNvPr id="7" name="Text 5"/>
          <p:cNvSpPr/>
          <p:nvPr/>
        </p:nvSpPr>
        <p:spPr>
          <a:xfrm>
            <a:off x="548640" y="4709160"/>
            <a:ext cx="6400800" cy="274320"/>
          </a:xfrm>
          <a:prstGeom prst="rect">
            <a:avLst/>
          </a:prstGeom>
          <a:noFill/>
          <a:ln/>
        </p:spPr>
        <p:txBody>
          <a:bodyPr wrap="square" rtlCol="0" anchor="ctr">
            <a:normAutofit/>
          </a:bodyPr>
          <a:lstStyle/>
          <a:p>
            <a:pPr indent="0" marL="0">
              <a:buNone/>
            </a:pPr>
            <a:r>
              <a:rPr lang="en-US" sz="850" dirty="0">
                <a:solidFill>
                  <a:srgbClr val="475569"/>
                </a:solidFill>
                <a:latin typeface="Arial" pitchFamily="34" charset="0"/>
                <a:ea typeface="Arial" pitchFamily="34" charset="-122"/>
                <a:cs typeface="Arial" pitchFamily="34" charset="-120"/>
              </a:rPr>
              <a:t>BizLeap Technologies | AI Copywriter &amp; Publisher Project Review</a:t>
            </a:r>
            <a:endParaRPr lang="en-US" sz="850" dirty="0"/>
          </a:p>
        </p:txBody>
      </p:sp>
      <p:sp>
        <p:nvSpPr>
          <p:cNvPr id="8" name="Text 6"/>
          <p:cNvSpPr/>
          <p:nvPr/>
        </p:nvSpPr>
        <p:spPr>
          <a:xfrm>
            <a:off x="8229600" y="4709160"/>
            <a:ext cx="548640" cy="274320"/>
          </a:xfrm>
          <a:prstGeom prst="rect">
            <a:avLst/>
          </a:prstGeom>
          <a:noFill/>
          <a:ln/>
        </p:spPr>
        <p:txBody>
          <a:bodyPr wrap="square" rtlCol="0" anchor="ctr">
            <a:normAutofit/>
          </a:bodyPr>
          <a:lstStyle/>
          <a:p>
            <a:pPr algn="r" indent="0" marL="0">
              <a:buNone/>
            </a:pPr>
            <a:r>
              <a:rPr lang="en-US" sz="850" dirty="0">
                <a:solidFill>
                  <a:srgbClr val="475569"/>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2026-06-10T05:36:43Z</dcterms:created>
  <dcterms:modified xsi:type="dcterms:W3CDTF">2026-06-10T05:36:43Z</dcterms:modified>
</cp:coreProperties>
</file>